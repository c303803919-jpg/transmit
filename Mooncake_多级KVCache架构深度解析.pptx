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Mooncake 多级 KVCache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架构深度解析与优化方向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KVCache 为中心的分离式 LLM 推理架构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0" y="3657600"/>
            <a:ext cx="274320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2025 Best Paper | Moonshot AI + 清华大学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系统框架 | 推理全流程 | 关键技术 | Token 级 Swap 优化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目录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371600" y="91440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06B6D4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914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01168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系统概览与核心数据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371600" y="155448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1554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01168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系统架构与六大模块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371600" y="219456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8B5CF6"/>
          </a:solidFill>
          <a:ln/>
        </p:spPr>
      </p:sp>
      <p:sp>
        <p:nvSpPr>
          <p:cNvPr id="12" name="Text 9"/>
          <p:cNvSpPr/>
          <p:nvPr/>
        </p:nvSpPr>
        <p:spPr>
          <a:xfrm>
            <a:off x="1371600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01168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推理全流程 (4 步工作流)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371600" y="283464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1371600" y="2834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01168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多级存储架构详解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371600" y="347472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1371600" y="34747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01168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关键技术: Transfer Engine / Conductor / CPP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1371600" y="411480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EC4899"/>
          </a:solidFill>
          <a:ln/>
        </p:spPr>
      </p:sp>
      <p:sp>
        <p:nvSpPr>
          <p:cNvPr id="21" name="Text 18"/>
          <p:cNvSpPr/>
          <p:nvPr/>
        </p:nvSpPr>
        <p:spPr>
          <a:xfrm>
            <a:off x="1371600" y="4114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0116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级 KVCache Swap 优化方向 (6 个优化点)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系统概览: Mooncake 是什么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Mooncake = Kimi (月之暗面) 的 LLM 推理服务平台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核心理念: 用存储换计算 (Trading Storage for Computation)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将已计算的 KVCache 缓存到分布式存储池 (CPU/DRAM/SSD)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新请求复用缓存的 KV, 跳过重复的 prefill 计算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效果: 吞吐量提升最高 498%, 同时满足延迟 SLO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三层分离 (Disaggregation):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Prefill/Decode 分离: 计算密集 vs 内存密集, 独立部署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KVCache 分离: 从 GPU 本地缓存提升为全局分布式缓存池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资源分离: 利用 GPU 集群中闲置的 CPU/DRAM/SSD/NIC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0" y="91440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120640" y="914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525%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92240" y="914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最高吞吐量提升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0" y="182880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2064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100B+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9224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日均处理 token 数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0" y="274320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120640" y="27432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1000+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492240" y="2743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生产环境节点数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0" y="365760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120640" y="3657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2.36x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492240" y="3657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缓存命中率 vs 本地缓存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01168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系统架构与六大模块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Mooncake 系统架构全景图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85953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六大核心模块详解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25603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14400"/>
            <a:ext cx="25603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024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Conductor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280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全局调度器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508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KVCache 感知的请求分发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 prefill+decode 节点对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驱动的负载均衡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过载时预测性拒绝策略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914400"/>
            <a:ext cx="25603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914400"/>
            <a:ext cx="25603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024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Mooncake Store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383280" y="1280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分布式 KV 池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83280" y="1508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分页块存储 (16-512 token)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哈希去重 + LRU 淘汰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热块多副本缓存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put/get/change_replica 接口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914400"/>
            <a:ext cx="25603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35040" y="914400"/>
            <a:ext cx="25603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024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 Engine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172200" y="1280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RDMA 传输引擎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72200" y="1508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拓扑感知路径选择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多网卡带宽聚合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16KB 切片粒度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端点池化 + 故障恢复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926080"/>
            <a:ext cx="25603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2926080"/>
            <a:ext cx="25603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Prefill Engine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94360" y="3291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分块预填充引擎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94360" y="3520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分块流水线并行 (CPP)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前缀 KV 从全局池复用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逐层流式发送 KV 到 decode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长上下文多节点扩展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246120" y="2926080"/>
            <a:ext cx="25603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46120" y="2926080"/>
            <a:ext cx="256032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4"/>
          <p:cNvSpPr/>
          <p:nvPr/>
        </p:nvSpPr>
        <p:spPr>
          <a:xfrm>
            <a:off x="338328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Decode Engine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383280" y="3291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连续批处理引擎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383280" y="3520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迭代级别调度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 约束下的 KVCache 管理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TBT SLO 保障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从 CPU 异步加载到 GPU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035040" y="2926080"/>
            <a:ext cx="25603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035040" y="2926080"/>
            <a:ext cx="256032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Cache Scheduler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172200" y="3291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冷热数据管理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172200" y="3520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启发式热点迁移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副本数量自动调优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跨会话 KV 共享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冷块 swap 到 SSD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01168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推理全流程: 4 步工作流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请求生命周期: 4 步工作流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87782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01168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多级 KVCache 存储架构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四级 KVCache 存储层次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4389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四级存储层次结构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0: GPU HBM (热数据)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当前活跃 decode 请求的 KVCache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PagedAttention 分页管理, BlockManager 控制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可用容量: ~40GB/GPU (扣除模型权重后)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本地 CPU DRAM (温数据)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输出暂存区, 前缀缓存本地副本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swap 的目标; KV 传输的来源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容量: ~256-512GB/节点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本地 SSD/NVMe (冷数据)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高频 system prompt 的持久化前缀缓存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DRAM 淘汰但仍可本地访问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容量: TB 级/节点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远程 DRAM/SSD via RDMA (分布式池)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跨节点全局 KVCache 池 (Mooncake Store)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内容寻址 (哈希), 热块多副本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集群聚合容量: PB 级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22960"/>
            <a:ext cx="41148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01168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关键技术详解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 Engine: RDMA 高速传输引擎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Mooncake 分离式架构的网络底座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拓扑感知路径选择: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每台服务器启动时广播拓扑矩阵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按内存区域分为 preferred/secondary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优先选择同 NUMA socket / 同 PCIe switch 的 NIC (避免 UPI 瓶颈)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故障时自动切换到 secondary NIC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多网卡带宽聚合: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单次传输切分为 16KB 切片 (slice)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每个切片可走不同 NIC/路径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NIC 协同工作 -&gt; 聚合带宽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H800: 8x400Gbps = 3.2Tbps 聚合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端点管理与故障恢复: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按需建立连接, SIEVE 算法管理端点池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检测故障 -&gt; 找替代路径 -&gt; 重提交请求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性能: 比 NCCL 快 2.4x, 比 gloo 快 4.6x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Conductor: KVCache 感知的全局调度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阶段调度目标: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目标: 最大化缓存复用率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约束: TTFT SLO, MFU 下限, KVCache &lt; DRAM 容量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选择前缀缓存重叠最多的 prefill 节点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前缀在远程节点时: 先调度 KV 拉取, 再执行 prefill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阶段调度目标: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目标: 最大化吞吐 (batch size)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约束: TBT SLO, KVCache &lt; VRAM 容量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VRAM 允许范围内尽可能多装 decode 请求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TBT SLO 面临风险时抢占低优先级请求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预测性拒绝策略: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预测新请求能否在当前负载下满足 SLO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宁可早拒绝, 不浪费 GPU 算力后违约 SLO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生产环境过载场景的关键保障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缓存负载均衡: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 KV 块自动多副本复制到多节点 (分散访问压力)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 KV 块淘汰或 swap 到 SSD (释放 DRAM 空间)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分块流水线并行 (CPP): 长上下文扩展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解决问题: 长 prompt (128K token) 单节点 TTFT 过高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 vs 其他方案: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张量并行 (TP): 跨节点每层 2 次 all-reduce, RDMA 开销大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序列并行 (SP): 切分输入序列, 需要弹性伸缩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CPP: 分块后按流水线顺序跨节点执行, 更简单高效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 工作机制: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节点 1: 处理 chunk 1 (所有层) -&gt; 流式发送 KV 到 decode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节点 2: 处理 chunk 2 (需要 attend 到 chunk 1 的 KV)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重叠: 节点 2 计算时, 节点 1 可处理下一个请求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KVCache 影响: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2 必须读取 chunk 1 的 KV -&gt; 跨节点 KV 依赖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 的 KV 留在节点 1 的 DRAM, chunk 2 通过 RDMA 拉取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逐层流式: 第 N 层计算时同时传输第 N-1 层的 KV (计算-传输重叠)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01168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EC48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级 KVCache Swap 优化</a:t>
            </a:r>
            <a:endParaRPr lang="en-US" sz="3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级 Swap: 挑战与愿景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现状: 块级 Swap (vLLM/Mooncake)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单元 = 整个 KV block (16-512 token)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全有全无: 整块在 GPU 或者不在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浪费带宽: 冷 token 和热 token 一起搬运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粒度不匹配: 注意力是 token 级, swap 是 block 级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愿景: Token 级 Swap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按重要性 swap 单个 token 的 KV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高注意力权重的 token 保留在 GPU, 低权重的 offload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动态调整: 随生成进行, token 重要性会变化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核心挑战: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内存碎片: token 级 alloc/free 造成碎片化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元数据开销: 追踪每个 token 的位置 (GPU/CPU/SSD)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预测准确性: 哪些 token 下一步会被重点关注?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传输粒度: 小传输无法充分利用 RDMA 带宽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注意力 kernel 改造: 处理 GPU 中不连续的 KV 序列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优化方向 1-3: 软件层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822960"/>
            <a:ext cx="54864" cy="12801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896112"/>
            <a:ext cx="320040" cy="27432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8961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896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注意力感知的淘汰策略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12070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追踪每个 token 跨 decode 步骤的累计注意力权重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 attention sink (前几个 token) -&gt; 钉住在 GPU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1755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识别滑动窗口 (最近 W 个 token) -&gt; 始终在 GPU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54880" y="12070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 token: 按注意力权重排序, 淘汰最低的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75488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H2O / Scissorhands 评分, 但在 swap 粒度上执行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54880" y="1755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分层策略: 不同层的注意力模式差异大, 分别处理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224028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2240280"/>
            <a:ext cx="54864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5"/>
          <p:cNvSpPr/>
          <p:nvPr/>
        </p:nvSpPr>
        <p:spPr>
          <a:xfrm>
            <a:off x="640080" y="2313432"/>
            <a:ext cx="32004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23134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2313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基于预取的 Swap 流水线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2624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预测未来 K 步需要的 token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0080" y="2898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异步预取: CPU/SSD -&gt; GPU staging buffer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0080" y="3172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与当前 decode 步的计算重叠执行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754880" y="2624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轻量预测器 (如用第 N-1 层的注意力模式预测第 N 层)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754880" y="2898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批量预取请求, 摊销 RDMA/PCIe 开销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754880" y="3172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双缓冲: swap-in buffer + active buffer 轮换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7200" y="3657600"/>
            <a:ext cx="54864" cy="1280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6"/>
          <p:cNvSpPr/>
          <p:nvPr/>
        </p:nvSpPr>
        <p:spPr>
          <a:xfrm>
            <a:off x="640080" y="3730752"/>
            <a:ext cx="320040" cy="27432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/>
        </p:spPr>
      </p:sp>
      <p:sp>
        <p:nvSpPr>
          <p:cNvPr id="30" name="Text 27"/>
          <p:cNvSpPr/>
          <p:nvPr/>
        </p:nvSpPr>
        <p:spPr>
          <a:xfrm>
            <a:off x="640080" y="37307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051560" y="373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混合 Block-Token 粒度管理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40080" y="4041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不用纯 token 级: 使用子块 (sub-block, 4-8 token)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40080" y="4315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子块 = 最小 swap 单元, 元数据减少 4-8 倍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40080" y="45902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子块内所有 token 同一层级 (避免碎片)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54880" y="4041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热子块钉在 GPU, 冷子块在 DRAM/SSD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754880" y="4315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块级用于批量操作, 子块级用于精细管理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754880" y="45902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 FlashAttention 的 tile size 提高 kernel 效率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优化方向 4-6: 硬件与系统层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822960"/>
            <a:ext cx="54864" cy="12801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896112"/>
            <a:ext cx="320040" cy="274320"/>
          </a:xfrm>
          <a:prstGeom prst="roundRect">
            <a:avLst>
              <a:gd name="adj" fmla="val 13333"/>
            </a:avLst>
          </a:prstGeom>
          <a:solidFill>
            <a:srgbClr val="EC4899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8961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896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GPU Kernel: 非连续 KV 的稀疏注意力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12070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改造 FlashAttention kernel 处理 KV 序列中的空洞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存在位图: 1 bit/token 标记是否在 GPU 中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1755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跳过已 offload 的 token (注意力权重视为 0)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54880" y="12070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近似: 缺失 token 的贡献从历史注意力估算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75488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融合 gather-attention kernel: 收集在场 token + 计算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54880" y="1755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基准: offload 50% KV 时精度损失 2-5% (可接受)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224028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2240280"/>
            <a:ext cx="54864" cy="1280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Shape 15"/>
          <p:cNvSpPr/>
          <p:nvPr/>
        </p:nvSpPr>
        <p:spPr>
          <a:xfrm>
            <a:off x="640080" y="2313432"/>
            <a:ext cx="320040" cy="27432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23134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2313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硬件感知的传输优化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2624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CXL 内存: 近 GPU 扩展, ~64GB/s, 亚微秒延迟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0080" y="2898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CXL 作为 Tier 0.5: 介于 HBM 和 DRAM 之间, 放温 KV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0080" y="3172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GPUDirect Storage: SSD -&gt; GPU 绕过 CPU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754880" y="2624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NVMe-oF: fabric 上的远程 SSD 访问, 扩展冷层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754880" y="2898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 P2P: GPU 间直传, 无需 CPU 中转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754880" y="3172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SmartNIC: 在网卡上压缩 KV 后再 RDMA 传输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7200" y="365760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6"/>
          <p:cNvSpPr/>
          <p:nvPr/>
        </p:nvSpPr>
        <p:spPr>
          <a:xfrm>
            <a:off x="640080" y="3730752"/>
            <a:ext cx="32004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30" name="Text 27"/>
          <p:cNvSpPr/>
          <p:nvPr/>
        </p:nvSpPr>
        <p:spPr>
          <a:xfrm>
            <a:off x="640080" y="37307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051560" y="3730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KV 压缩降低 Swap 带宽需求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40080" y="4041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swap-out 时量化 KV 到 INT4/INT8 (节省 2-4x 带宽)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40080" y="4315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swap-in 时反量化 (与注意力 kernel 融合)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40080" y="45902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编码: 存储与前缀 KV 的差异 (相似请求受益)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54880" y="4041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剪枝: 永久丢弃可证明不重要的 token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754880" y="4315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学习型压缩 (CacheGen 风格): 神经网络编解码 KV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754880" y="45902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以计算换带宽: 压缩/解压开销 &lt;&lt; 传输开销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级 Swap: 整体架构设计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87782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研究路线图: Token 级 Swap 四阶段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阶段一: 分析与建模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在真实 workload 上分析各层/头的注意力模式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测量每个 token 的访问频率和时间局部性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基准测试不同粒度下的 swap 开销 (PCIe, RDMA, NVMe)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阶段二: 淘汰与预取算法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实现重要性评分器 (累计注意力 + 位置 + 层)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构建预取预测器 (轻量级, &lt; 1% 开销)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设计子块分配器与碎片控制机制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阶段三: Kernel 与系统集成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改造 FlashAttention 支持 bitmap 稀疏 KV 访问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对接 Mooncake Store API (子块级 put/get)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实现异步 swap 流水线 + 双缓冲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阶段四: 软硬件协同设计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 CXL 内存作为 Tier 0.5 的可行性 (温 KV token 专用)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 SmartNIC 上的 KV 压缩/解压卸载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设计面向 KV 访问模式优化的定制内存控制器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核心结论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5448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554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Mooncake 以 KVCache 为中心, 将 KV 视为一等公民的存储对象来管理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5740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2057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四级存储: GPU HBM -&gt; CPU DRAM -&gt; SSD -&gt; 远程 RDMA 池 (PB 级)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6032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80160" y="2560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全局调度最大化缓存复用, 同时保障 TTFT/TBT SLO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63240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80160" y="30632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Engine 通过拓扑感知多网卡 RDMA 达到 2.4-4.6x 性能提升</a:t>
            </a:r>
            <a:endParaRPr lang="en-US" sz="12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566160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80160" y="35661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级 Swap 是下一个前沿: 注意力感知淘汰 + 异步预取 + 稀疏 kernel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069080"/>
            <a:ext cx="228600" cy="228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280160" y="40690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CXL, SmartNIC, NVMe-oF 是更精细 KV 管理的硬件使能技术</a:t>
            </a:r>
            <a:endParaRPr lang="en-US" sz="1200" dirty="0"/>
          </a:p>
        </p:txBody>
      </p:sp>
      <p:sp>
        <p:nvSpPr>
          <p:cNvPr id="16" name="Shape 8"/>
          <p:cNvSpPr/>
          <p:nvPr/>
        </p:nvSpPr>
        <p:spPr>
          <a:xfrm>
            <a:off x="3200400" y="4572000"/>
            <a:ext cx="274320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Text 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参考文献: Mooncake (FAST'25) | DistServe (OSDI'24) | H2O | FlashAttention | CacheGen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Mooncake 多级 KVCache 架构深度解析</dc:title>
  <dc:subject>PptxGenJS Presentation</dc:subject>
  <dc:creator>Claude</dc:creator>
  <cp:lastModifiedBy>Claude</cp:lastModifiedBy>
  <cp:revision>1</cp:revision>
  <dcterms:created xsi:type="dcterms:W3CDTF">2026-04-04T16:31:37Z</dcterms:created>
  <dcterms:modified xsi:type="dcterms:W3CDTF">2026-04-04T16:31:38Z</dcterms:modified>
</cp:coreProperties>
</file>