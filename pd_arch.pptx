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6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3152"/>
          </a:xfrm>
          <a:prstGeom prst="rect">
            <a:avLst/>
          </a:prstGeom>
          <a:solidFill>
            <a:srgbClr val="3A7FD5"/>
          </a:solidFill>
          <a:ln w="12700">
            <a:solidFill>
              <a:srgbClr val="3A7FD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71600" y="1645920"/>
            <a:ext cx="94183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E8F0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PD 分离架构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1371600" y="2880360"/>
            <a:ext cx="94183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i="1" dirty="0">
                <a:solidFill>
                  <a:srgbClr val="A0B0C8"/>
                </a:solidFill>
              </a:rPr>
              <a:t>Prefill / Decode 分离下的存储层次与数据路径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474720" y="3749040"/>
            <a:ext cx="1463040" cy="502920"/>
          </a:xfrm>
          <a:prstGeom prst="roundRect">
            <a:avLst>
              <a:gd name="adj" fmla="val 18182"/>
            </a:avLst>
          </a:prstGeom>
          <a:solidFill>
            <a:srgbClr val="E05C2A">
              <a:alpha val="80000"/>
            </a:srgbClr>
          </a:solidFill>
          <a:ln w="19050">
            <a:solidFill>
              <a:srgbClr val="E05C2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474720" y="3749040"/>
            <a:ext cx="1463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HBM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486400" y="3749040"/>
            <a:ext cx="1463040" cy="502920"/>
          </a:xfrm>
          <a:prstGeom prst="roundRect">
            <a:avLst>
              <a:gd name="adj" fmla="val 18182"/>
            </a:avLst>
          </a:prstGeom>
          <a:solidFill>
            <a:srgbClr val="2888D4">
              <a:alpha val="80000"/>
            </a:srgbClr>
          </a:solidFill>
          <a:ln w="19050">
            <a:solidFill>
              <a:srgbClr val="2888D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0" y="3749040"/>
            <a:ext cx="1463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DRAM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7498080" y="3749040"/>
            <a:ext cx="1463040" cy="502920"/>
          </a:xfrm>
          <a:prstGeom prst="roundRect">
            <a:avLst>
              <a:gd name="adj" fmla="val 18182"/>
            </a:avLst>
          </a:prstGeom>
          <a:solidFill>
            <a:srgbClr val="9B59B6">
              <a:alpha val="80000"/>
            </a:srgbClr>
          </a:solidFill>
          <a:ln w="19050">
            <a:solidFill>
              <a:srgbClr val="9B59B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498080" y="3749040"/>
            <a:ext cx="1463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SSD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0" y="6784848"/>
            <a:ext cx="12161520" cy="73152"/>
          </a:xfrm>
          <a:prstGeom prst="rect">
            <a:avLst/>
          </a:prstGeom>
          <a:solidFill>
            <a:srgbClr val="3A7FD5"/>
          </a:solidFill>
          <a:ln w="12700">
            <a:solidFill>
              <a:srgbClr val="3A7FD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74320" y="6492240"/>
            <a:ext cx="11612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B0C8"/>
                </a:solidFill>
              </a:rPr>
              <a:t>MooncakeKV · Storage Hierarchy · Data Path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6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3152"/>
          </a:xfrm>
          <a:prstGeom prst="rect">
            <a:avLst/>
          </a:prstGeom>
          <a:solidFill>
            <a:srgbClr val="3A7FD5"/>
          </a:solidFill>
          <a:ln w="12700">
            <a:solidFill>
              <a:srgbClr val="3A7FD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137160"/>
            <a:ext cx="11612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E8F0FF"/>
                </a:solidFill>
              </a:rPr>
              <a:t>PD 分离架构：存储层次与数据路径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28600" y="777240"/>
            <a:ext cx="3749040" cy="5760720"/>
          </a:xfrm>
          <a:prstGeom prst="rect">
            <a:avLst/>
          </a:prstGeom>
          <a:solidFill>
            <a:srgbClr val="0E3460">
              <a:alpha val="45000"/>
            </a:srgbClr>
          </a:solidFill>
          <a:ln w="19050">
            <a:solidFill>
              <a:srgbClr val="3A7FD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4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28600" y="777240"/>
            <a:ext cx="3749040" cy="347472"/>
          </a:xfrm>
          <a:prstGeom prst="rect">
            <a:avLst/>
          </a:prstGeom>
          <a:solidFill>
            <a:srgbClr val="1E5799"/>
          </a:solidFill>
          <a:ln w="12700">
            <a:solidFill>
              <a:srgbClr val="1E579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28600" y="777240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PREFILL NODE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11480" y="1234440"/>
            <a:ext cx="3383280" cy="621792"/>
          </a:xfrm>
          <a:prstGeom prst="rect">
            <a:avLst/>
          </a:prstGeom>
          <a:solidFill>
            <a:srgbClr val="CC3333">
              <a:alpha val="80000"/>
            </a:srgbClr>
          </a:solidFill>
          <a:ln w="19050">
            <a:solidFill>
              <a:srgbClr val="CC333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" y="1234440"/>
            <a:ext cx="338328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GPU  (Prefill Compute)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11480" y="2011680"/>
            <a:ext cx="3383280" cy="914400"/>
          </a:xfrm>
          <a:prstGeom prst="rect">
            <a:avLst/>
          </a:prstGeom>
          <a:solidFill>
            <a:srgbClr val="E05C2A">
              <a:alpha val="40000"/>
            </a:srgbClr>
          </a:solidFill>
          <a:ln w="25400">
            <a:solidFill>
              <a:srgbClr val="E05C2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4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11480" y="2011680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05C2A"/>
                </a:solidFill>
              </a:rPr>
              <a:t>HBM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48640" y="2331720"/>
            <a:ext cx="3108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CCAA"/>
                </a:solidFill>
              </a:rPr>
              <a:t>• KV Cache (active tokens)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CCAA"/>
                </a:solidFill>
              </a:rPr>
              <a:t>• Model Weights (layers)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11480" y="3108960"/>
            <a:ext cx="3383280" cy="914400"/>
          </a:xfrm>
          <a:prstGeom prst="rect">
            <a:avLst/>
          </a:prstGeom>
          <a:solidFill>
            <a:srgbClr val="2888D4">
              <a:alpha val="35000"/>
            </a:srgbClr>
          </a:solidFill>
          <a:ln w="25400">
            <a:solidFill>
              <a:srgbClr val="2888D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4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11480" y="3108960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888D4"/>
                </a:solidFill>
              </a:rPr>
              <a:t>DRAM (Host Memory)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48640" y="3429000"/>
            <a:ext cx="3108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ADCFF"/>
                </a:solidFill>
              </a:rPr>
              <a:t>• KV Cache 溢出暂存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ADCFF"/>
                </a:solidFill>
              </a:rPr>
              <a:t>• Prompt Token 缓冲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11480" y="4206240"/>
            <a:ext cx="3383280" cy="914400"/>
          </a:xfrm>
          <a:prstGeom prst="rect">
            <a:avLst/>
          </a:prstGeom>
          <a:solidFill>
            <a:srgbClr val="9B59B6">
              <a:alpha val="35000"/>
            </a:srgbClr>
          </a:solidFill>
          <a:ln w="25400">
            <a:solidFill>
              <a:srgbClr val="9B59B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4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411480" y="4206240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C99FF"/>
                </a:solidFill>
              </a:rPr>
              <a:t>SSD (NVMe / Local)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548640" y="4526280"/>
            <a:ext cx="3108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DB8FF"/>
                </a:solidFill>
              </a:rPr>
              <a:t>• Persistent KV Cache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DB8FF"/>
                </a:solidFill>
              </a:rPr>
              <a:t>• Checkpoint / Model 分片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960120" y="1856232"/>
            <a:ext cx="0" cy="155448"/>
          </a:xfrm>
          <a:prstGeom prst="line">
            <a:avLst/>
          </a:prstGeom>
          <a:noFill/>
          <a:ln w="31750">
            <a:solidFill>
              <a:srgbClr val="4ECDC4"/>
            </a:solidFill>
            <a:prstDash val="solid"/>
            <a:tailEnd type="arrow"/>
          </a:ln>
        </p:spPr>
      </p:sp>
      <p:sp>
        <p:nvSpPr>
          <p:cNvPr id="19" name="Shape 17"/>
          <p:cNvSpPr/>
          <p:nvPr/>
        </p:nvSpPr>
        <p:spPr>
          <a:xfrm>
            <a:off x="2788920" y="2011680"/>
            <a:ext cx="0" cy="-155448"/>
          </a:xfrm>
          <a:prstGeom prst="line">
            <a:avLst/>
          </a:prstGeom>
          <a:noFill/>
          <a:ln w="31750">
            <a:solidFill>
              <a:srgbClr val="4ECDC4"/>
            </a:solidFill>
            <a:prstDash val="solid"/>
            <a:tailEnd type="arrow"/>
          </a:ln>
        </p:spPr>
      </p:sp>
      <p:sp>
        <p:nvSpPr>
          <p:cNvPr id="20" name="Shape 18"/>
          <p:cNvSpPr/>
          <p:nvPr/>
        </p:nvSpPr>
        <p:spPr>
          <a:xfrm>
            <a:off x="960120" y="2926080"/>
            <a:ext cx="0" cy="182880"/>
          </a:xfrm>
          <a:prstGeom prst="line">
            <a:avLst/>
          </a:prstGeom>
          <a:noFill/>
          <a:ln w="31750">
            <a:solidFill>
              <a:srgbClr val="4ECDC4"/>
            </a:solidFill>
            <a:prstDash val="solid"/>
            <a:tailEnd type="arrow"/>
          </a:ln>
        </p:spPr>
      </p:sp>
      <p:sp>
        <p:nvSpPr>
          <p:cNvPr id="21" name="Shape 19"/>
          <p:cNvSpPr/>
          <p:nvPr/>
        </p:nvSpPr>
        <p:spPr>
          <a:xfrm>
            <a:off x="2788920" y="3108960"/>
            <a:ext cx="0" cy="-182880"/>
          </a:xfrm>
          <a:prstGeom prst="line">
            <a:avLst/>
          </a:prstGeom>
          <a:noFill/>
          <a:ln w="31750">
            <a:solidFill>
              <a:srgbClr val="4ECDC4"/>
            </a:solidFill>
            <a:prstDash val="solid"/>
            <a:tailEnd type="arrow"/>
          </a:ln>
        </p:spPr>
      </p:sp>
      <p:sp>
        <p:nvSpPr>
          <p:cNvPr id="22" name="Shape 20"/>
          <p:cNvSpPr/>
          <p:nvPr/>
        </p:nvSpPr>
        <p:spPr>
          <a:xfrm>
            <a:off x="960120" y="4023360"/>
            <a:ext cx="0" cy="182880"/>
          </a:xfrm>
          <a:prstGeom prst="line">
            <a:avLst/>
          </a:prstGeom>
          <a:noFill/>
          <a:ln w="31750">
            <a:solidFill>
              <a:srgbClr val="4ECDC4"/>
            </a:solidFill>
            <a:prstDash val="solid"/>
            <a:tailEnd type="arrow"/>
          </a:ln>
        </p:spPr>
      </p:sp>
      <p:sp>
        <p:nvSpPr>
          <p:cNvPr id="23" name="Shape 21"/>
          <p:cNvSpPr/>
          <p:nvPr/>
        </p:nvSpPr>
        <p:spPr>
          <a:xfrm>
            <a:off x="2788920" y="4206240"/>
            <a:ext cx="0" cy="-182880"/>
          </a:xfrm>
          <a:prstGeom prst="line">
            <a:avLst/>
          </a:prstGeom>
          <a:noFill/>
          <a:ln w="31750">
            <a:solidFill>
              <a:srgbClr val="4ECDC4"/>
            </a:solidFill>
            <a:prstDash val="solid"/>
            <a:tailEnd type="arrow"/>
          </a:ln>
        </p:spPr>
      </p:sp>
      <p:sp>
        <p:nvSpPr>
          <p:cNvPr id="24" name="Text 22"/>
          <p:cNvSpPr/>
          <p:nvPr/>
        </p:nvSpPr>
        <p:spPr>
          <a:xfrm>
            <a:off x="1188720" y="1892808"/>
            <a:ext cx="1005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ECDC4"/>
                </a:solidFill>
              </a:rPr>
              <a:t>~3 TB/s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1188720" y="2971800"/>
            <a:ext cx="1005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ECDC4"/>
                </a:solidFill>
              </a:rPr>
              <a:t>~100 GB/s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1188720" y="4069080"/>
            <a:ext cx="1005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ECDC4"/>
                </a:solidFill>
              </a:rPr>
              <a:t>~7 GB/s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8183880" y="777240"/>
            <a:ext cx="3749040" cy="5760720"/>
          </a:xfrm>
          <a:prstGeom prst="rect">
            <a:avLst/>
          </a:prstGeom>
          <a:solidFill>
            <a:srgbClr val="1A3322">
              <a:alpha val="45000"/>
            </a:srgbClr>
          </a:solidFill>
          <a:ln w="19050">
            <a:solidFill>
              <a:srgbClr val="2ECC7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40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8183880" y="777240"/>
            <a:ext cx="3749040" cy="347472"/>
          </a:xfrm>
          <a:prstGeom prst="rect">
            <a:avLst/>
          </a:prstGeom>
          <a:solidFill>
            <a:srgbClr val="1A5C3A"/>
          </a:solidFill>
          <a:ln w="12700">
            <a:solidFill>
              <a:srgbClr val="1A5C3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183880" y="777240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DECODE NODE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8366760" y="1234440"/>
            <a:ext cx="3383280" cy="621792"/>
          </a:xfrm>
          <a:prstGeom prst="rect">
            <a:avLst/>
          </a:prstGeom>
          <a:solidFill>
            <a:srgbClr val="CC3333">
              <a:alpha val="80000"/>
            </a:srgbClr>
          </a:solidFill>
          <a:ln w="19050">
            <a:solidFill>
              <a:srgbClr val="CC3333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366760" y="1234440"/>
            <a:ext cx="338328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GPU  (Decode Compute)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8366760" y="2011680"/>
            <a:ext cx="3383280" cy="914400"/>
          </a:xfrm>
          <a:prstGeom prst="rect">
            <a:avLst/>
          </a:prstGeom>
          <a:solidFill>
            <a:srgbClr val="E05C2A">
              <a:alpha val="40000"/>
            </a:srgbClr>
          </a:solidFill>
          <a:ln w="25400">
            <a:solidFill>
              <a:srgbClr val="E05C2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40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8366760" y="2011680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05C2A"/>
                </a:solidFill>
              </a:rPr>
              <a:t>HBM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8503920" y="2331720"/>
            <a:ext cx="3108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CCAA"/>
                </a:solidFill>
              </a:rPr>
              <a:t>• 当前 Step KV Cache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CCAA"/>
                </a:solidFill>
              </a:rPr>
              <a:t>• Model Weights (layers)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8366760" y="3108960"/>
            <a:ext cx="3383280" cy="914400"/>
          </a:xfrm>
          <a:prstGeom prst="rect">
            <a:avLst/>
          </a:prstGeom>
          <a:solidFill>
            <a:srgbClr val="2888D4">
              <a:alpha val="35000"/>
            </a:srgbClr>
          </a:solidFill>
          <a:ln w="25400">
            <a:solidFill>
              <a:srgbClr val="2888D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40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8366760" y="3108960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888D4"/>
                </a:solidFill>
              </a:rPr>
              <a:t>DRAM (Host Memory)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8503920" y="3429000"/>
            <a:ext cx="3108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ADCFF"/>
                </a:solidFill>
              </a:rPr>
              <a:t>• KV Cache 接收缓冲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ADCFF"/>
                </a:solidFill>
              </a:rPr>
              <a:t>• 历史 Token 缓存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8366760" y="4206240"/>
            <a:ext cx="3383280" cy="914400"/>
          </a:xfrm>
          <a:prstGeom prst="rect">
            <a:avLst/>
          </a:prstGeom>
          <a:solidFill>
            <a:srgbClr val="9B59B6">
              <a:alpha val="35000"/>
            </a:srgbClr>
          </a:solidFill>
          <a:ln w="25400">
            <a:solidFill>
              <a:srgbClr val="9B59B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40000"/>
              </a:srgbClr>
            </a:outerShdw>
          </a:effectLst>
        </p:spPr>
      </p:sp>
      <p:sp>
        <p:nvSpPr>
          <p:cNvPr id="39" name="Text 37"/>
          <p:cNvSpPr/>
          <p:nvPr/>
        </p:nvSpPr>
        <p:spPr>
          <a:xfrm>
            <a:off x="8366760" y="4206240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C99FF"/>
                </a:solidFill>
              </a:rPr>
              <a:t>SSD (NVMe / Local)</a:t>
            </a:r>
            <a:endParaRPr lang="en-US" sz="1400" dirty="0"/>
          </a:p>
        </p:txBody>
      </p:sp>
      <p:sp>
        <p:nvSpPr>
          <p:cNvPr id="40" name="Text 38"/>
          <p:cNvSpPr/>
          <p:nvPr/>
        </p:nvSpPr>
        <p:spPr>
          <a:xfrm>
            <a:off x="8503920" y="4526280"/>
            <a:ext cx="3108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DB8FF"/>
                </a:solidFill>
              </a:rPr>
              <a:t>• Offload KV (长序列)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DB8FF"/>
                </a:solidFill>
              </a:rPr>
              <a:t>• Swap 换页区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8915400" y="1856232"/>
            <a:ext cx="0" cy="155448"/>
          </a:xfrm>
          <a:prstGeom prst="line">
            <a:avLst/>
          </a:prstGeom>
          <a:noFill/>
          <a:ln w="31750">
            <a:solidFill>
              <a:srgbClr val="4ECDC4"/>
            </a:solidFill>
            <a:prstDash val="solid"/>
            <a:tailEnd type="arrow"/>
          </a:ln>
        </p:spPr>
      </p:sp>
      <p:sp>
        <p:nvSpPr>
          <p:cNvPr id="42" name="Shape 40"/>
          <p:cNvSpPr/>
          <p:nvPr/>
        </p:nvSpPr>
        <p:spPr>
          <a:xfrm>
            <a:off x="10744200" y="2011680"/>
            <a:ext cx="0" cy="-155448"/>
          </a:xfrm>
          <a:prstGeom prst="line">
            <a:avLst/>
          </a:prstGeom>
          <a:noFill/>
          <a:ln w="31750">
            <a:solidFill>
              <a:srgbClr val="4ECDC4"/>
            </a:solidFill>
            <a:prstDash val="solid"/>
            <a:tailEnd type="arrow"/>
          </a:ln>
        </p:spPr>
      </p:sp>
      <p:sp>
        <p:nvSpPr>
          <p:cNvPr id="43" name="Shape 41"/>
          <p:cNvSpPr/>
          <p:nvPr/>
        </p:nvSpPr>
        <p:spPr>
          <a:xfrm>
            <a:off x="8915400" y="2926080"/>
            <a:ext cx="0" cy="182880"/>
          </a:xfrm>
          <a:prstGeom prst="line">
            <a:avLst/>
          </a:prstGeom>
          <a:noFill/>
          <a:ln w="31750">
            <a:solidFill>
              <a:srgbClr val="4ECDC4"/>
            </a:solidFill>
            <a:prstDash val="solid"/>
            <a:tailEnd type="arrow"/>
          </a:ln>
        </p:spPr>
      </p:sp>
      <p:sp>
        <p:nvSpPr>
          <p:cNvPr id="44" name="Shape 42"/>
          <p:cNvSpPr/>
          <p:nvPr/>
        </p:nvSpPr>
        <p:spPr>
          <a:xfrm>
            <a:off x="10744200" y="3108960"/>
            <a:ext cx="0" cy="-182880"/>
          </a:xfrm>
          <a:prstGeom prst="line">
            <a:avLst/>
          </a:prstGeom>
          <a:noFill/>
          <a:ln w="31750">
            <a:solidFill>
              <a:srgbClr val="4ECDC4"/>
            </a:solidFill>
            <a:prstDash val="solid"/>
            <a:tailEnd type="arrow"/>
          </a:ln>
        </p:spPr>
      </p:sp>
      <p:sp>
        <p:nvSpPr>
          <p:cNvPr id="45" name="Shape 43"/>
          <p:cNvSpPr/>
          <p:nvPr/>
        </p:nvSpPr>
        <p:spPr>
          <a:xfrm>
            <a:off x="8915400" y="4023360"/>
            <a:ext cx="0" cy="182880"/>
          </a:xfrm>
          <a:prstGeom prst="line">
            <a:avLst/>
          </a:prstGeom>
          <a:noFill/>
          <a:ln w="31750">
            <a:solidFill>
              <a:srgbClr val="4ECDC4"/>
            </a:solidFill>
            <a:prstDash val="solid"/>
            <a:tailEnd type="arrow"/>
          </a:ln>
        </p:spPr>
      </p:sp>
      <p:sp>
        <p:nvSpPr>
          <p:cNvPr id="46" name="Shape 44"/>
          <p:cNvSpPr/>
          <p:nvPr/>
        </p:nvSpPr>
        <p:spPr>
          <a:xfrm>
            <a:off x="10744200" y="4206240"/>
            <a:ext cx="0" cy="-182880"/>
          </a:xfrm>
          <a:prstGeom prst="line">
            <a:avLst/>
          </a:prstGeom>
          <a:noFill/>
          <a:ln w="31750">
            <a:solidFill>
              <a:srgbClr val="4ECDC4"/>
            </a:solidFill>
            <a:prstDash val="solid"/>
            <a:tailEnd type="arrow"/>
          </a:ln>
        </p:spPr>
      </p:sp>
      <p:sp>
        <p:nvSpPr>
          <p:cNvPr id="47" name="Text 45"/>
          <p:cNvSpPr/>
          <p:nvPr/>
        </p:nvSpPr>
        <p:spPr>
          <a:xfrm>
            <a:off x="9144000" y="1892808"/>
            <a:ext cx="1005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ECDC4"/>
                </a:solidFill>
              </a:rPr>
              <a:t>~3 TB/s</a:t>
            </a:r>
            <a:endParaRPr lang="en-US" sz="800" dirty="0"/>
          </a:p>
        </p:txBody>
      </p:sp>
      <p:sp>
        <p:nvSpPr>
          <p:cNvPr id="48" name="Text 46"/>
          <p:cNvSpPr/>
          <p:nvPr/>
        </p:nvSpPr>
        <p:spPr>
          <a:xfrm>
            <a:off x="9144000" y="2971800"/>
            <a:ext cx="1005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ECDC4"/>
                </a:solidFill>
              </a:rPr>
              <a:t>~100 GB/s</a:t>
            </a:r>
            <a:endParaRPr lang="en-US" sz="800" dirty="0"/>
          </a:p>
        </p:txBody>
      </p:sp>
      <p:sp>
        <p:nvSpPr>
          <p:cNvPr id="49" name="Text 47"/>
          <p:cNvSpPr/>
          <p:nvPr/>
        </p:nvSpPr>
        <p:spPr>
          <a:xfrm>
            <a:off x="9144000" y="4069080"/>
            <a:ext cx="1005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ECDC4"/>
                </a:solidFill>
              </a:rPr>
              <a:t>~7 GB/s</a:t>
            </a:r>
            <a:endParaRPr lang="en-US" sz="800" dirty="0"/>
          </a:p>
        </p:txBody>
      </p:sp>
      <p:sp>
        <p:nvSpPr>
          <p:cNvPr id="50" name="Shape 48"/>
          <p:cNvSpPr/>
          <p:nvPr/>
        </p:nvSpPr>
        <p:spPr>
          <a:xfrm>
            <a:off x="4160520" y="777240"/>
            <a:ext cx="3840480" cy="5760720"/>
          </a:xfrm>
          <a:prstGeom prst="rect">
            <a:avLst/>
          </a:prstGeom>
          <a:solidFill>
            <a:srgbClr val="1C1C2E">
              <a:alpha val="70000"/>
            </a:srgbClr>
          </a:solidFill>
          <a:ln w="15240">
            <a:solidFill>
              <a:srgbClr val="5555AA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4160520" y="777240"/>
            <a:ext cx="3840480" cy="347472"/>
          </a:xfrm>
          <a:prstGeom prst="rect">
            <a:avLst/>
          </a:prstGeom>
          <a:solidFill>
            <a:srgbClr val="333366"/>
          </a:solidFill>
          <a:ln w="12700">
            <a:solidFill>
              <a:srgbClr val="333366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4160520" y="777240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AAAAFF"/>
                </a:solidFill>
              </a:rPr>
              <a:t>NETWORK / RDMA / InfiniBand</a:t>
            </a:r>
            <a:endParaRPr lang="en-US" sz="1100" dirty="0"/>
          </a:p>
        </p:txBody>
      </p:sp>
      <p:sp>
        <p:nvSpPr>
          <p:cNvPr id="53" name="Shape 51"/>
          <p:cNvSpPr/>
          <p:nvPr/>
        </p:nvSpPr>
        <p:spPr>
          <a:xfrm>
            <a:off x="3977640" y="2468880"/>
            <a:ext cx="4023360" cy="0"/>
          </a:xfrm>
          <a:prstGeom prst="line">
            <a:avLst/>
          </a:prstGeom>
          <a:noFill/>
          <a:ln w="38100">
            <a:solidFill>
              <a:srgbClr val="F7DC6F"/>
            </a:solidFill>
            <a:prstDash val="solid"/>
            <a:tailEnd type="arrow"/>
          </a:ln>
        </p:spPr>
      </p:sp>
      <p:sp>
        <p:nvSpPr>
          <p:cNvPr id="54" name="Text 52"/>
          <p:cNvSpPr/>
          <p:nvPr/>
        </p:nvSpPr>
        <p:spPr>
          <a:xfrm>
            <a:off x="4251960" y="2240280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7DC6F"/>
                </a:solidFill>
              </a:rPr>
              <a:t>KV Cache Transfer  →</a:t>
            </a:r>
            <a:endParaRPr lang="en-US" sz="900" dirty="0"/>
          </a:p>
        </p:txBody>
      </p:sp>
      <p:sp>
        <p:nvSpPr>
          <p:cNvPr id="55" name="Text 53"/>
          <p:cNvSpPr/>
          <p:nvPr/>
        </p:nvSpPr>
        <p:spPr>
          <a:xfrm>
            <a:off x="4251960" y="2505456"/>
            <a:ext cx="3657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CCCC88"/>
                </a:solidFill>
              </a:rPr>
              <a:t>HBM→HBM via RDMA  (~200 GB/s)</a:t>
            </a:r>
            <a:endParaRPr lang="en-US" sz="800" dirty="0"/>
          </a:p>
        </p:txBody>
      </p:sp>
      <p:sp>
        <p:nvSpPr>
          <p:cNvPr id="56" name="Shape 54"/>
          <p:cNvSpPr/>
          <p:nvPr/>
        </p:nvSpPr>
        <p:spPr>
          <a:xfrm>
            <a:off x="3977640" y="3566160"/>
            <a:ext cx="4023360" cy="0"/>
          </a:xfrm>
          <a:prstGeom prst="line">
            <a:avLst/>
          </a:prstGeom>
          <a:noFill/>
          <a:ln w="38100">
            <a:solidFill>
              <a:srgbClr val="F7DC6F"/>
            </a:solidFill>
            <a:prstDash val="solid"/>
            <a:tailEnd type="arrow"/>
          </a:ln>
        </p:spPr>
      </p:sp>
      <p:sp>
        <p:nvSpPr>
          <p:cNvPr id="57" name="Text 55"/>
          <p:cNvSpPr/>
          <p:nvPr/>
        </p:nvSpPr>
        <p:spPr>
          <a:xfrm>
            <a:off x="4251960" y="3337560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7DC6F"/>
                </a:solidFill>
              </a:rPr>
              <a:t>Spill KV  →</a:t>
            </a:r>
            <a:endParaRPr lang="en-US" sz="900" dirty="0"/>
          </a:p>
        </p:txBody>
      </p:sp>
      <p:sp>
        <p:nvSpPr>
          <p:cNvPr id="58" name="Text 56"/>
          <p:cNvSpPr/>
          <p:nvPr/>
        </p:nvSpPr>
        <p:spPr>
          <a:xfrm>
            <a:off x="4251960" y="3602736"/>
            <a:ext cx="3657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CCCC88"/>
                </a:solidFill>
              </a:rPr>
              <a:t>HBM→DRAM→Network  (~25 GB/s)</a:t>
            </a:r>
            <a:endParaRPr lang="en-US" sz="800" dirty="0"/>
          </a:p>
        </p:txBody>
      </p:sp>
      <p:sp>
        <p:nvSpPr>
          <p:cNvPr id="59" name="Shape 57"/>
          <p:cNvSpPr/>
          <p:nvPr/>
        </p:nvSpPr>
        <p:spPr>
          <a:xfrm>
            <a:off x="3977640" y="4663440"/>
            <a:ext cx="4023360" cy="0"/>
          </a:xfrm>
          <a:prstGeom prst="line">
            <a:avLst/>
          </a:prstGeom>
          <a:noFill/>
          <a:ln w="38100">
            <a:solidFill>
              <a:srgbClr val="F7DC6F"/>
            </a:solidFill>
            <a:prstDash val="solid"/>
            <a:tailEnd type="arrow"/>
          </a:ln>
        </p:spPr>
      </p:sp>
      <p:sp>
        <p:nvSpPr>
          <p:cNvPr id="60" name="Text 58"/>
          <p:cNvSpPr/>
          <p:nvPr/>
        </p:nvSpPr>
        <p:spPr>
          <a:xfrm>
            <a:off x="4251960" y="4434840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7DC6F"/>
                </a:solidFill>
              </a:rPr>
              <a:t>Persistent KV  →</a:t>
            </a:r>
            <a:endParaRPr lang="en-US" sz="900" dirty="0"/>
          </a:p>
        </p:txBody>
      </p:sp>
      <p:sp>
        <p:nvSpPr>
          <p:cNvPr id="61" name="Text 59"/>
          <p:cNvSpPr/>
          <p:nvPr/>
        </p:nvSpPr>
        <p:spPr>
          <a:xfrm>
            <a:off x="4251960" y="4700016"/>
            <a:ext cx="3657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CCCC88"/>
                </a:solidFill>
              </a:rPr>
              <a:t>SSD→Network→SSD  (~5 GB/s)</a:t>
            </a:r>
            <a:endParaRPr lang="en-US" sz="800" dirty="0"/>
          </a:p>
        </p:txBody>
      </p:sp>
      <p:sp>
        <p:nvSpPr>
          <p:cNvPr id="62" name="Shape 60"/>
          <p:cNvSpPr/>
          <p:nvPr/>
        </p:nvSpPr>
        <p:spPr>
          <a:xfrm>
            <a:off x="4434840" y="5212080"/>
            <a:ext cx="3291840" cy="1005840"/>
          </a:xfrm>
          <a:prstGeom prst="rect">
            <a:avLst/>
          </a:prstGeom>
          <a:solidFill>
            <a:srgbClr val="222244">
              <a:alpha val="80000"/>
            </a:srgbClr>
          </a:solidFill>
          <a:ln w="12700">
            <a:solidFill>
              <a:srgbClr val="5555AA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4434840" y="521208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AAAAFF"/>
                </a:solidFill>
              </a:rPr>
              <a:t>Mooncake KV Cache Engine</a:t>
            </a:r>
            <a:endParaRPr lang="en-US" sz="1100" dirty="0"/>
          </a:p>
        </p:txBody>
      </p:sp>
      <p:sp>
        <p:nvSpPr>
          <p:cNvPr id="64" name="Text 62"/>
          <p:cNvSpPr/>
          <p:nvPr/>
        </p:nvSpPr>
        <p:spPr>
          <a:xfrm>
            <a:off x="4480560" y="5550408"/>
            <a:ext cx="32004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CC"/>
                </a:solidFill>
              </a:rPr>
              <a:t>• 分层缓存调度 (HBM→DRAM→SSD)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8888CC"/>
                </a:solidFill>
              </a:rPr>
              <a:t>• P/D KV 路由与迁移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8888CC"/>
                </a:solidFill>
              </a:rPr>
              <a:t>• 全局 KV 索引管理</a:t>
            </a:r>
            <a:endParaRPr lang="en-US" sz="900" dirty="0"/>
          </a:p>
        </p:txBody>
      </p:sp>
      <p:sp>
        <p:nvSpPr>
          <p:cNvPr id="65" name="Shape 63"/>
          <p:cNvSpPr/>
          <p:nvPr/>
        </p:nvSpPr>
        <p:spPr>
          <a:xfrm>
            <a:off x="0" y="6784848"/>
            <a:ext cx="12161520" cy="73152"/>
          </a:xfrm>
          <a:prstGeom prst="rect">
            <a:avLst/>
          </a:prstGeom>
          <a:solidFill>
            <a:srgbClr val="3A7FD5"/>
          </a:solidFill>
          <a:ln w="12700">
            <a:solidFill>
              <a:srgbClr val="3A7FD5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731520" y="6510528"/>
            <a:ext cx="182880" cy="182880"/>
          </a:xfrm>
          <a:prstGeom prst="rect">
            <a:avLst/>
          </a:prstGeom>
          <a:solidFill>
            <a:srgbClr val="E05C2A"/>
          </a:solidFill>
          <a:ln w="12700">
            <a:solidFill>
              <a:srgbClr val="E05C2A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960120" y="6492240"/>
            <a:ext cx="16459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0B0C8"/>
                </a:solidFill>
              </a:rPr>
              <a:t>HBM (GPU On-Chip)</a:t>
            </a:r>
            <a:endParaRPr lang="en-US" sz="900" dirty="0"/>
          </a:p>
        </p:txBody>
      </p:sp>
      <p:sp>
        <p:nvSpPr>
          <p:cNvPr id="68" name="Shape 66"/>
          <p:cNvSpPr/>
          <p:nvPr/>
        </p:nvSpPr>
        <p:spPr>
          <a:xfrm>
            <a:off x="2743200" y="6510528"/>
            <a:ext cx="182880" cy="182880"/>
          </a:xfrm>
          <a:prstGeom prst="rect">
            <a:avLst/>
          </a:prstGeom>
          <a:solidFill>
            <a:srgbClr val="2888D4"/>
          </a:solidFill>
          <a:ln w="12700">
            <a:solidFill>
              <a:srgbClr val="2888D4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2971800" y="6492240"/>
            <a:ext cx="16459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0B0C8"/>
                </a:solidFill>
              </a:rPr>
              <a:t>DRAM (Host)</a:t>
            </a:r>
            <a:endParaRPr lang="en-US" sz="900" dirty="0"/>
          </a:p>
        </p:txBody>
      </p:sp>
      <p:sp>
        <p:nvSpPr>
          <p:cNvPr id="70" name="Shape 68"/>
          <p:cNvSpPr/>
          <p:nvPr/>
        </p:nvSpPr>
        <p:spPr>
          <a:xfrm>
            <a:off x="4754880" y="6510528"/>
            <a:ext cx="182880" cy="182880"/>
          </a:xfrm>
          <a:prstGeom prst="rect">
            <a:avLst/>
          </a:prstGeom>
          <a:solidFill>
            <a:srgbClr val="9B59B6"/>
          </a:solidFill>
          <a:ln w="12700">
            <a:solidFill>
              <a:srgbClr val="9B59B6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4983480" y="6492240"/>
            <a:ext cx="16459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0B0C8"/>
                </a:solidFill>
              </a:rPr>
              <a:t>SSD (Persistent)</a:t>
            </a:r>
            <a:endParaRPr lang="en-US" sz="900" dirty="0"/>
          </a:p>
        </p:txBody>
      </p:sp>
      <p:sp>
        <p:nvSpPr>
          <p:cNvPr id="72" name="Shape 70"/>
          <p:cNvSpPr/>
          <p:nvPr/>
        </p:nvSpPr>
        <p:spPr>
          <a:xfrm>
            <a:off x="6766560" y="6510528"/>
            <a:ext cx="182880" cy="182880"/>
          </a:xfrm>
          <a:prstGeom prst="rect">
            <a:avLst/>
          </a:prstGeom>
          <a:solidFill>
            <a:srgbClr val="4ECDC4"/>
          </a:solidFill>
          <a:ln w="12700">
            <a:solidFill>
              <a:srgbClr val="4ECDC4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6995160" y="6492240"/>
            <a:ext cx="16459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0B0C8"/>
                </a:solidFill>
              </a:rPr>
              <a:t>本地数据路径</a:t>
            </a:r>
            <a:endParaRPr lang="en-US" sz="900" dirty="0"/>
          </a:p>
        </p:txBody>
      </p:sp>
      <p:sp>
        <p:nvSpPr>
          <p:cNvPr id="74" name="Shape 72"/>
          <p:cNvSpPr/>
          <p:nvPr/>
        </p:nvSpPr>
        <p:spPr>
          <a:xfrm>
            <a:off x="8778240" y="6510528"/>
            <a:ext cx="182880" cy="182880"/>
          </a:xfrm>
          <a:prstGeom prst="rect">
            <a:avLst/>
          </a:prstGeom>
          <a:solidFill>
            <a:srgbClr val="F7DC6F"/>
          </a:solidFill>
          <a:ln w="12700">
            <a:solidFill>
              <a:srgbClr val="F7DC6F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9006840" y="6492240"/>
            <a:ext cx="16459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0B0C8"/>
                </a:solidFill>
              </a:rPr>
              <a:t>跨节点 KV 迁移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6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3152"/>
          </a:xfrm>
          <a:prstGeom prst="rect">
            <a:avLst/>
          </a:prstGeom>
          <a:solidFill>
            <a:srgbClr val="3A7FD5"/>
          </a:solidFill>
          <a:ln w="12700">
            <a:solidFill>
              <a:srgbClr val="3A7FD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137160"/>
            <a:ext cx="11612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E8F0FF"/>
                </a:solidFill>
              </a:rPr>
              <a:t>关键数据路径详解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28600" y="804672"/>
            <a:ext cx="3657600" cy="5212080"/>
          </a:xfrm>
          <a:prstGeom prst="rect">
            <a:avLst/>
          </a:prstGeom>
          <a:solidFill>
            <a:srgbClr val="1E5799">
              <a:alpha val="30000"/>
            </a:srgbClr>
          </a:solidFill>
          <a:ln w="19050">
            <a:solidFill>
              <a:srgbClr val="1E579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4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28600" y="804672"/>
            <a:ext cx="3657600" cy="365760"/>
          </a:xfrm>
          <a:prstGeom prst="rect">
            <a:avLst/>
          </a:prstGeom>
          <a:solidFill>
            <a:srgbClr val="1E5799"/>
          </a:solidFill>
          <a:ln w="12700">
            <a:solidFill>
              <a:srgbClr val="1E579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28600" y="804672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① Prefill：请求处理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65760" y="1307592"/>
            <a:ext cx="1005840" cy="256032"/>
          </a:xfrm>
          <a:prstGeom prst="roundRect">
            <a:avLst>
              <a:gd name="adj" fmla="val 21429"/>
            </a:avLst>
          </a:prstGeom>
          <a:solidFill>
            <a:srgbClr val="9B59B6">
              <a:alpha val="70000"/>
            </a:srgbClr>
          </a:solidFill>
          <a:ln w="12700">
            <a:solidFill>
              <a:srgbClr val="9B59B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1307592"/>
            <a:ext cx="1005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SSD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463040" y="1289304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0E0FF"/>
                </a:solidFill>
              </a:rPr>
              <a:t>从 SSD 加载 Prompt token 的历史 KV Cache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868680" y="1581912"/>
            <a:ext cx="0" cy="228600"/>
          </a:xfrm>
          <a:prstGeom prst="line">
            <a:avLst/>
          </a:prstGeom>
          <a:noFill/>
          <a:ln w="19050">
            <a:solidFill>
              <a:srgbClr val="4ECDC4"/>
            </a:solidFill>
            <a:prstDash val="solid"/>
            <a:tailEnd type="arrow"/>
          </a:ln>
        </p:spPr>
      </p:sp>
      <p:sp>
        <p:nvSpPr>
          <p:cNvPr id="11" name="Shape 9"/>
          <p:cNvSpPr/>
          <p:nvPr/>
        </p:nvSpPr>
        <p:spPr>
          <a:xfrm>
            <a:off x="365760" y="2221992"/>
            <a:ext cx="1005840" cy="256032"/>
          </a:xfrm>
          <a:prstGeom prst="roundRect">
            <a:avLst>
              <a:gd name="adj" fmla="val 21429"/>
            </a:avLst>
          </a:prstGeom>
          <a:solidFill>
            <a:srgbClr val="2888D4">
              <a:alpha val="70000"/>
            </a:srgbClr>
          </a:solidFill>
          <a:ln w="12700">
            <a:solidFill>
              <a:srgbClr val="2888D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" y="2221992"/>
            <a:ext cx="1005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DRAM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463040" y="2203704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0E0FF"/>
                </a:solidFill>
              </a:rPr>
              <a:t>KV 读入 Host Memory 解压/预处理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868680" y="2496312"/>
            <a:ext cx="0" cy="228600"/>
          </a:xfrm>
          <a:prstGeom prst="line">
            <a:avLst/>
          </a:prstGeom>
          <a:noFill/>
          <a:ln w="19050">
            <a:solidFill>
              <a:srgbClr val="4ECDC4"/>
            </a:solidFill>
            <a:prstDash val="solid"/>
            <a:tailEnd type="arrow"/>
          </a:ln>
        </p:spPr>
      </p:sp>
      <p:sp>
        <p:nvSpPr>
          <p:cNvPr id="15" name="Shape 13"/>
          <p:cNvSpPr/>
          <p:nvPr/>
        </p:nvSpPr>
        <p:spPr>
          <a:xfrm>
            <a:off x="365760" y="3136392"/>
            <a:ext cx="1005840" cy="256032"/>
          </a:xfrm>
          <a:prstGeom prst="roundRect">
            <a:avLst>
              <a:gd name="adj" fmla="val 21429"/>
            </a:avLst>
          </a:prstGeom>
          <a:solidFill>
            <a:srgbClr val="E05C2A">
              <a:alpha val="70000"/>
            </a:srgbClr>
          </a:solidFill>
          <a:ln w="12700">
            <a:solidFill>
              <a:srgbClr val="E05C2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5760" y="3136392"/>
            <a:ext cx="1005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HBM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463040" y="3118104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0E0FF"/>
                </a:solidFill>
              </a:rPr>
              <a:t>传至 GPU HBM，执行 Attention 计算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868680" y="3410712"/>
            <a:ext cx="0" cy="228600"/>
          </a:xfrm>
          <a:prstGeom prst="line">
            <a:avLst/>
          </a:prstGeom>
          <a:noFill/>
          <a:ln w="19050">
            <a:solidFill>
              <a:srgbClr val="4ECDC4"/>
            </a:solidFill>
            <a:prstDash val="solid"/>
            <a:tailEnd type="arrow"/>
          </a:ln>
        </p:spPr>
      </p:sp>
      <p:sp>
        <p:nvSpPr>
          <p:cNvPr id="19" name="Shape 17"/>
          <p:cNvSpPr/>
          <p:nvPr/>
        </p:nvSpPr>
        <p:spPr>
          <a:xfrm>
            <a:off x="365760" y="4050792"/>
            <a:ext cx="1005840" cy="256032"/>
          </a:xfrm>
          <a:prstGeom prst="roundRect">
            <a:avLst>
              <a:gd name="adj" fmla="val 21429"/>
            </a:avLst>
          </a:prstGeom>
          <a:solidFill>
            <a:srgbClr val="CC3333">
              <a:alpha val="70000"/>
            </a:srgbClr>
          </a:solidFill>
          <a:ln w="12700">
            <a:solidFill>
              <a:srgbClr val="CC333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65760" y="4050792"/>
            <a:ext cx="1005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GPU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463040" y="4032504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0E0FF"/>
                </a:solidFill>
              </a:rPr>
              <a:t>Prefill 完成，生成首 Token 及全量 KV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868680" y="4325112"/>
            <a:ext cx="0" cy="228600"/>
          </a:xfrm>
          <a:prstGeom prst="line">
            <a:avLst/>
          </a:prstGeom>
          <a:noFill/>
          <a:ln w="19050">
            <a:solidFill>
              <a:srgbClr val="4ECDC4"/>
            </a:solidFill>
            <a:prstDash val="solid"/>
            <a:tailEnd type="arrow"/>
          </a:ln>
        </p:spPr>
      </p:sp>
      <p:sp>
        <p:nvSpPr>
          <p:cNvPr id="23" name="Shape 21"/>
          <p:cNvSpPr/>
          <p:nvPr/>
        </p:nvSpPr>
        <p:spPr>
          <a:xfrm>
            <a:off x="365760" y="4965192"/>
            <a:ext cx="1005840" cy="256032"/>
          </a:xfrm>
          <a:prstGeom prst="roundRect">
            <a:avLst>
              <a:gd name="adj" fmla="val 21429"/>
            </a:avLst>
          </a:prstGeom>
          <a:solidFill>
            <a:srgbClr val="F7DC6F">
              <a:alpha val="70000"/>
            </a:srgbClr>
          </a:solidFill>
          <a:ln w="12700">
            <a:solidFill>
              <a:srgbClr val="F7DC6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65760" y="4965192"/>
            <a:ext cx="1005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HBM→Net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463040" y="4946904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0E0FF"/>
                </a:solidFill>
              </a:rPr>
              <a:t>KV Cache 通过 RDMA 迁移至 Decode 节点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4251960" y="804672"/>
            <a:ext cx="3657600" cy="5212080"/>
          </a:xfrm>
          <a:prstGeom prst="rect">
            <a:avLst/>
          </a:prstGeom>
          <a:solidFill>
            <a:srgbClr val="1A5C3A">
              <a:alpha val="30000"/>
            </a:srgbClr>
          </a:solidFill>
          <a:ln w="19050">
            <a:solidFill>
              <a:srgbClr val="1A5C3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4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251960" y="804672"/>
            <a:ext cx="3657600" cy="365760"/>
          </a:xfrm>
          <a:prstGeom prst="rect">
            <a:avLst/>
          </a:prstGeom>
          <a:solidFill>
            <a:srgbClr val="1A5C3A"/>
          </a:solidFill>
          <a:ln w="12700">
            <a:solidFill>
              <a:srgbClr val="1A5C3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251960" y="804672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② Decode：逐 Token 生成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4389120" y="1307592"/>
            <a:ext cx="1005840" cy="256032"/>
          </a:xfrm>
          <a:prstGeom prst="roundRect">
            <a:avLst>
              <a:gd name="adj" fmla="val 21429"/>
            </a:avLst>
          </a:prstGeom>
          <a:solidFill>
            <a:srgbClr val="2888D4">
              <a:alpha val="70000"/>
            </a:srgbClr>
          </a:solidFill>
          <a:ln w="12700">
            <a:solidFill>
              <a:srgbClr val="2888D4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389120" y="1307592"/>
            <a:ext cx="1005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DRAM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5486400" y="1289304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0E0FF"/>
                </a:solidFill>
              </a:rPr>
              <a:t>接收来自 Prefill 节点的 KV Cache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4892040" y="1581912"/>
            <a:ext cx="0" cy="228600"/>
          </a:xfrm>
          <a:prstGeom prst="line">
            <a:avLst/>
          </a:prstGeom>
          <a:noFill/>
          <a:ln w="19050">
            <a:solidFill>
              <a:srgbClr val="4ECDC4"/>
            </a:solidFill>
            <a:prstDash val="solid"/>
            <a:tailEnd type="arrow"/>
          </a:ln>
        </p:spPr>
      </p:sp>
      <p:sp>
        <p:nvSpPr>
          <p:cNvPr id="33" name="Shape 31"/>
          <p:cNvSpPr/>
          <p:nvPr/>
        </p:nvSpPr>
        <p:spPr>
          <a:xfrm>
            <a:off x="4389120" y="2221992"/>
            <a:ext cx="1005840" cy="256032"/>
          </a:xfrm>
          <a:prstGeom prst="roundRect">
            <a:avLst>
              <a:gd name="adj" fmla="val 21429"/>
            </a:avLst>
          </a:prstGeom>
          <a:solidFill>
            <a:srgbClr val="E05C2A">
              <a:alpha val="70000"/>
            </a:srgbClr>
          </a:solidFill>
          <a:ln w="12700">
            <a:solidFill>
              <a:srgbClr val="E05C2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389120" y="2221992"/>
            <a:ext cx="1005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HBM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5486400" y="2203704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0E0FF"/>
                </a:solidFill>
              </a:rPr>
              <a:t>KV 加载至 GPU HBM（按 Page 管理）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4892040" y="2496312"/>
            <a:ext cx="0" cy="228600"/>
          </a:xfrm>
          <a:prstGeom prst="line">
            <a:avLst/>
          </a:prstGeom>
          <a:noFill/>
          <a:ln w="19050">
            <a:solidFill>
              <a:srgbClr val="4ECDC4"/>
            </a:solidFill>
            <a:prstDash val="solid"/>
            <a:tailEnd type="arrow"/>
          </a:ln>
        </p:spPr>
      </p:sp>
      <p:sp>
        <p:nvSpPr>
          <p:cNvPr id="37" name="Shape 35"/>
          <p:cNvSpPr/>
          <p:nvPr/>
        </p:nvSpPr>
        <p:spPr>
          <a:xfrm>
            <a:off x="4389120" y="3136392"/>
            <a:ext cx="1005840" cy="256032"/>
          </a:xfrm>
          <a:prstGeom prst="roundRect">
            <a:avLst>
              <a:gd name="adj" fmla="val 21429"/>
            </a:avLst>
          </a:prstGeom>
          <a:solidFill>
            <a:srgbClr val="CC3333">
              <a:alpha val="70000"/>
            </a:srgbClr>
          </a:solidFill>
          <a:ln w="12700">
            <a:solidFill>
              <a:srgbClr val="CC3333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389120" y="3136392"/>
            <a:ext cx="1005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GPU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5486400" y="3118104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0E0FF"/>
                </a:solidFill>
              </a:rPr>
              <a:t>每步 Decode：读 KV + 计算 Attn + 输出 Token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4892040" y="3410712"/>
            <a:ext cx="0" cy="228600"/>
          </a:xfrm>
          <a:prstGeom prst="line">
            <a:avLst/>
          </a:prstGeom>
          <a:noFill/>
          <a:ln w="19050">
            <a:solidFill>
              <a:srgbClr val="4ECDC4"/>
            </a:solidFill>
            <a:prstDash val="solid"/>
            <a:tailEnd type="arrow"/>
          </a:ln>
        </p:spPr>
      </p:sp>
      <p:sp>
        <p:nvSpPr>
          <p:cNvPr id="41" name="Shape 39"/>
          <p:cNvSpPr/>
          <p:nvPr/>
        </p:nvSpPr>
        <p:spPr>
          <a:xfrm>
            <a:off x="4389120" y="4050792"/>
            <a:ext cx="1005840" cy="256032"/>
          </a:xfrm>
          <a:prstGeom prst="roundRect">
            <a:avLst>
              <a:gd name="adj" fmla="val 21429"/>
            </a:avLst>
          </a:prstGeom>
          <a:solidFill>
            <a:srgbClr val="2888D4">
              <a:alpha val="70000"/>
            </a:srgbClr>
          </a:solidFill>
          <a:ln w="12700">
            <a:solidFill>
              <a:srgbClr val="2888D4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389120" y="4050792"/>
            <a:ext cx="1005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HBM→DRAM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5486400" y="4032504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0E0FF"/>
                </a:solidFill>
              </a:rPr>
              <a:t>长序列 KV 溢出至 DRAM（Swap Out）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4892040" y="4325112"/>
            <a:ext cx="0" cy="228600"/>
          </a:xfrm>
          <a:prstGeom prst="line">
            <a:avLst/>
          </a:prstGeom>
          <a:noFill/>
          <a:ln w="19050">
            <a:solidFill>
              <a:srgbClr val="4ECDC4"/>
            </a:solidFill>
            <a:prstDash val="solid"/>
            <a:tailEnd type="arrow"/>
          </a:ln>
        </p:spPr>
      </p:sp>
      <p:sp>
        <p:nvSpPr>
          <p:cNvPr id="45" name="Shape 43"/>
          <p:cNvSpPr/>
          <p:nvPr/>
        </p:nvSpPr>
        <p:spPr>
          <a:xfrm>
            <a:off x="4389120" y="4965192"/>
            <a:ext cx="1005840" cy="256032"/>
          </a:xfrm>
          <a:prstGeom prst="roundRect">
            <a:avLst>
              <a:gd name="adj" fmla="val 21429"/>
            </a:avLst>
          </a:prstGeom>
          <a:solidFill>
            <a:srgbClr val="9B59B6">
              <a:alpha val="70000"/>
            </a:srgbClr>
          </a:solidFill>
          <a:ln w="12700">
            <a:solidFill>
              <a:srgbClr val="9B59B6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389120" y="4965192"/>
            <a:ext cx="1005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DRAM→SSD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5486400" y="4946904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0E0FF"/>
                </a:solidFill>
              </a:rPr>
              <a:t>超长上下文 KV 进一步卸载至 SSD</a:t>
            </a:r>
            <a:endParaRPr lang="en-US" sz="950" dirty="0"/>
          </a:p>
        </p:txBody>
      </p:sp>
      <p:sp>
        <p:nvSpPr>
          <p:cNvPr id="48" name="Shape 46"/>
          <p:cNvSpPr/>
          <p:nvPr/>
        </p:nvSpPr>
        <p:spPr>
          <a:xfrm>
            <a:off x="8275320" y="804672"/>
            <a:ext cx="3657600" cy="5212080"/>
          </a:xfrm>
          <a:prstGeom prst="rect">
            <a:avLst/>
          </a:prstGeom>
          <a:solidFill>
            <a:srgbClr val="333366">
              <a:alpha val="30000"/>
            </a:srgbClr>
          </a:solidFill>
          <a:ln w="19050">
            <a:solidFill>
              <a:srgbClr val="33336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40000"/>
              </a:srgbClr>
            </a:outerShdw>
          </a:effectLst>
        </p:spPr>
      </p:sp>
      <p:sp>
        <p:nvSpPr>
          <p:cNvPr id="49" name="Shape 47"/>
          <p:cNvSpPr/>
          <p:nvPr/>
        </p:nvSpPr>
        <p:spPr>
          <a:xfrm>
            <a:off x="8275320" y="804672"/>
            <a:ext cx="3657600" cy="365760"/>
          </a:xfrm>
          <a:prstGeom prst="rect">
            <a:avLst/>
          </a:prstGeom>
          <a:solidFill>
            <a:srgbClr val="333366"/>
          </a:solidFill>
          <a:ln w="12700">
            <a:solidFill>
              <a:srgbClr val="333366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8275320" y="804672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③ Mooncake KV 调度</a:t>
            </a:r>
            <a:endParaRPr lang="en-US" sz="1300" dirty="0"/>
          </a:p>
        </p:txBody>
      </p:sp>
      <p:sp>
        <p:nvSpPr>
          <p:cNvPr id="51" name="Shape 49"/>
          <p:cNvSpPr/>
          <p:nvPr/>
        </p:nvSpPr>
        <p:spPr>
          <a:xfrm>
            <a:off x="8412480" y="1307592"/>
            <a:ext cx="1005840" cy="256032"/>
          </a:xfrm>
          <a:prstGeom prst="roundRect">
            <a:avLst>
              <a:gd name="adj" fmla="val 21429"/>
            </a:avLst>
          </a:prstGeom>
          <a:solidFill>
            <a:srgbClr val="AAAAFF">
              <a:alpha val="70000"/>
            </a:srgbClr>
          </a:solidFill>
          <a:ln w="12700">
            <a:solidFill>
              <a:srgbClr val="AAAAFF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8412480" y="1307592"/>
            <a:ext cx="1005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全局索引</a:t>
            </a:r>
            <a:endParaRPr lang="en-US" sz="900" dirty="0"/>
          </a:p>
        </p:txBody>
      </p:sp>
      <p:sp>
        <p:nvSpPr>
          <p:cNvPr id="53" name="Text 51"/>
          <p:cNvSpPr/>
          <p:nvPr/>
        </p:nvSpPr>
        <p:spPr>
          <a:xfrm>
            <a:off x="9509760" y="1289304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0E0FF"/>
                </a:solidFill>
              </a:rPr>
              <a:t>维护全局 KV Block 索引表（P/D 两侧）</a:t>
            </a:r>
            <a:endParaRPr lang="en-US" sz="950" dirty="0"/>
          </a:p>
        </p:txBody>
      </p:sp>
      <p:sp>
        <p:nvSpPr>
          <p:cNvPr id="54" name="Shape 52"/>
          <p:cNvSpPr/>
          <p:nvPr/>
        </p:nvSpPr>
        <p:spPr>
          <a:xfrm>
            <a:off x="8915400" y="1581912"/>
            <a:ext cx="0" cy="228600"/>
          </a:xfrm>
          <a:prstGeom prst="line">
            <a:avLst/>
          </a:prstGeom>
          <a:noFill/>
          <a:ln w="19050">
            <a:solidFill>
              <a:srgbClr val="4ECDC4"/>
            </a:solidFill>
            <a:prstDash val="solid"/>
            <a:tailEnd type="arrow"/>
          </a:ln>
        </p:spPr>
      </p:sp>
      <p:sp>
        <p:nvSpPr>
          <p:cNvPr id="55" name="Shape 53"/>
          <p:cNvSpPr/>
          <p:nvPr/>
        </p:nvSpPr>
        <p:spPr>
          <a:xfrm>
            <a:off x="8412480" y="2221992"/>
            <a:ext cx="1005840" cy="256032"/>
          </a:xfrm>
          <a:prstGeom prst="roundRect">
            <a:avLst>
              <a:gd name="adj" fmla="val 21429"/>
            </a:avLst>
          </a:prstGeom>
          <a:solidFill>
            <a:srgbClr val="44BBFF">
              <a:alpha val="70000"/>
            </a:srgbClr>
          </a:solidFill>
          <a:ln w="12700">
            <a:solidFill>
              <a:srgbClr val="44BBFF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8412480" y="2221992"/>
            <a:ext cx="1005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命中检测</a:t>
            </a:r>
            <a:endParaRPr lang="en-US" sz="900" dirty="0"/>
          </a:p>
        </p:txBody>
      </p:sp>
      <p:sp>
        <p:nvSpPr>
          <p:cNvPr id="57" name="Text 55"/>
          <p:cNvSpPr/>
          <p:nvPr/>
        </p:nvSpPr>
        <p:spPr>
          <a:xfrm>
            <a:off x="9509760" y="2203704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0E0FF"/>
                </a:solidFill>
              </a:rPr>
              <a:t>Decode 请求先查本地 HBM Cache</a:t>
            </a:r>
            <a:endParaRPr lang="en-US" sz="950" dirty="0"/>
          </a:p>
        </p:txBody>
      </p:sp>
      <p:sp>
        <p:nvSpPr>
          <p:cNvPr id="58" name="Shape 56"/>
          <p:cNvSpPr/>
          <p:nvPr/>
        </p:nvSpPr>
        <p:spPr>
          <a:xfrm>
            <a:off x="8915400" y="2496312"/>
            <a:ext cx="0" cy="228600"/>
          </a:xfrm>
          <a:prstGeom prst="line">
            <a:avLst/>
          </a:prstGeom>
          <a:noFill/>
          <a:ln w="19050">
            <a:solidFill>
              <a:srgbClr val="4ECDC4"/>
            </a:solidFill>
            <a:prstDash val="solid"/>
            <a:tailEnd type="arrow"/>
          </a:ln>
        </p:spPr>
      </p:sp>
      <p:sp>
        <p:nvSpPr>
          <p:cNvPr id="59" name="Shape 57"/>
          <p:cNvSpPr/>
          <p:nvPr/>
        </p:nvSpPr>
        <p:spPr>
          <a:xfrm>
            <a:off x="8412480" y="3136392"/>
            <a:ext cx="1005840" cy="256032"/>
          </a:xfrm>
          <a:prstGeom prst="roundRect">
            <a:avLst>
              <a:gd name="adj" fmla="val 21429"/>
            </a:avLst>
          </a:prstGeom>
          <a:solidFill>
            <a:srgbClr val="2888D4">
              <a:alpha val="70000"/>
            </a:srgbClr>
          </a:solidFill>
          <a:ln w="12700">
            <a:solidFill>
              <a:srgbClr val="2888D4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8412480" y="3136392"/>
            <a:ext cx="1005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DRAM 回填</a:t>
            </a:r>
            <a:endParaRPr lang="en-US" sz="900" dirty="0"/>
          </a:p>
        </p:txBody>
      </p:sp>
      <p:sp>
        <p:nvSpPr>
          <p:cNvPr id="61" name="Text 59"/>
          <p:cNvSpPr/>
          <p:nvPr/>
        </p:nvSpPr>
        <p:spPr>
          <a:xfrm>
            <a:off x="9509760" y="3118104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0E0FF"/>
                </a:solidFill>
              </a:rPr>
              <a:t>Miss 时从 DRAM 预取（μs 级延迟）</a:t>
            </a:r>
            <a:endParaRPr lang="en-US" sz="950" dirty="0"/>
          </a:p>
        </p:txBody>
      </p:sp>
      <p:sp>
        <p:nvSpPr>
          <p:cNvPr id="62" name="Shape 60"/>
          <p:cNvSpPr/>
          <p:nvPr/>
        </p:nvSpPr>
        <p:spPr>
          <a:xfrm>
            <a:off x="8915400" y="3410712"/>
            <a:ext cx="0" cy="228600"/>
          </a:xfrm>
          <a:prstGeom prst="line">
            <a:avLst/>
          </a:prstGeom>
          <a:noFill/>
          <a:ln w="19050">
            <a:solidFill>
              <a:srgbClr val="4ECDC4"/>
            </a:solidFill>
            <a:prstDash val="solid"/>
            <a:tailEnd type="arrow"/>
          </a:ln>
        </p:spPr>
      </p:sp>
      <p:sp>
        <p:nvSpPr>
          <p:cNvPr id="63" name="Shape 61"/>
          <p:cNvSpPr/>
          <p:nvPr/>
        </p:nvSpPr>
        <p:spPr>
          <a:xfrm>
            <a:off x="8412480" y="4050792"/>
            <a:ext cx="1005840" cy="256032"/>
          </a:xfrm>
          <a:prstGeom prst="roundRect">
            <a:avLst>
              <a:gd name="adj" fmla="val 21429"/>
            </a:avLst>
          </a:prstGeom>
          <a:solidFill>
            <a:srgbClr val="9B59B6">
              <a:alpha val="70000"/>
            </a:srgbClr>
          </a:solidFill>
          <a:ln w="12700">
            <a:solidFill>
              <a:srgbClr val="9B59B6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8412480" y="4050792"/>
            <a:ext cx="1005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SSD 回填</a:t>
            </a:r>
            <a:endParaRPr lang="en-US" sz="900" dirty="0"/>
          </a:p>
        </p:txBody>
      </p:sp>
      <p:sp>
        <p:nvSpPr>
          <p:cNvPr id="65" name="Text 63"/>
          <p:cNvSpPr/>
          <p:nvPr/>
        </p:nvSpPr>
        <p:spPr>
          <a:xfrm>
            <a:off x="9509760" y="4032504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0E0FF"/>
                </a:solidFill>
              </a:rPr>
              <a:t>DRAM Miss 从 SSD 加载（ms 级延迟）</a:t>
            </a:r>
            <a:endParaRPr lang="en-US" sz="950" dirty="0"/>
          </a:p>
        </p:txBody>
      </p:sp>
      <p:sp>
        <p:nvSpPr>
          <p:cNvPr id="66" name="Shape 64"/>
          <p:cNvSpPr/>
          <p:nvPr/>
        </p:nvSpPr>
        <p:spPr>
          <a:xfrm>
            <a:off x="8915400" y="4325112"/>
            <a:ext cx="0" cy="228600"/>
          </a:xfrm>
          <a:prstGeom prst="line">
            <a:avLst/>
          </a:prstGeom>
          <a:noFill/>
          <a:ln w="19050">
            <a:solidFill>
              <a:srgbClr val="4ECDC4"/>
            </a:solidFill>
            <a:prstDash val="solid"/>
            <a:tailEnd type="arrow"/>
          </a:ln>
        </p:spPr>
      </p:sp>
      <p:sp>
        <p:nvSpPr>
          <p:cNvPr id="67" name="Shape 65"/>
          <p:cNvSpPr/>
          <p:nvPr/>
        </p:nvSpPr>
        <p:spPr>
          <a:xfrm>
            <a:off x="8412480" y="4965192"/>
            <a:ext cx="1005840" cy="256032"/>
          </a:xfrm>
          <a:prstGeom prst="roundRect">
            <a:avLst>
              <a:gd name="adj" fmla="val 21429"/>
            </a:avLst>
          </a:prstGeom>
          <a:solidFill>
            <a:srgbClr val="F7DC6F">
              <a:alpha val="70000"/>
            </a:srgbClr>
          </a:solidFill>
          <a:ln w="12700">
            <a:solidFill>
              <a:srgbClr val="F7DC6F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8412480" y="4965192"/>
            <a:ext cx="1005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P→D 迁移</a:t>
            </a:r>
            <a:endParaRPr lang="en-US" sz="900" dirty="0"/>
          </a:p>
        </p:txBody>
      </p:sp>
      <p:sp>
        <p:nvSpPr>
          <p:cNvPr id="69" name="Text 67"/>
          <p:cNvSpPr/>
          <p:nvPr/>
        </p:nvSpPr>
        <p:spPr>
          <a:xfrm>
            <a:off x="9509760" y="4946904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0E0FF"/>
                </a:solidFill>
              </a:rPr>
              <a:t>Prefill 产出 KV 经 RDMA 直送 Decode HBM</a:t>
            </a:r>
            <a:endParaRPr lang="en-US" sz="950" dirty="0"/>
          </a:p>
        </p:txBody>
      </p:sp>
      <p:sp>
        <p:nvSpPr>
          <p:cNvPr id="70" name="Shape 68"/>
          <p:cNvSpPr/>
          <p:nvPr/>
        </p:nvSpPr>
        <p:spPr>
          <a:xfrm>
            <a:off x="0" y="6784848"/>
            <a:ext cx="12161520" cy="73152"/>
          </a:xfrm>
          <a:prstGeom prst="rect">
            <a:avLst/>
          </a:prstGeom>
          <a:solidFill>
            <a:srgbClr val="3A7FD5"/>
          </a:solidFill>
          <a:ln w="12700">
            <a:solidFill>
              <a:srgbClr val="3A7FD5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274320" y="6492240"/>
            <a:ext cx="11612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A0B0C8"/>
                </a:solidFill>
              </a:rPr>
              <a:t>HBM ≈ 3 TB/s  |  DRAM ≈ 100 GB/s  |  SSD ≈ 7 GB/s  |  RDMA ≈ 200 GB/s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2026-04-07T09:09:01Z</dcterms:created>
  <dcterms:modified xsi:type="dcterms:W3CDTF">2026-04-07T09:09:01Z</dcterms:modified>
</cp:coreProperties>
</file>