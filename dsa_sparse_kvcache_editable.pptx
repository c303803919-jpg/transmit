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11201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8245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NPU侧开销：DSA选择与控制面进入Decode热路径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20040" y="1417320"/>
            <a:ext cx="1417320" cy="27889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7780">
            <a:solidFill>
              <a:srgbClr val="1F5FD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29768" y="1627632"/>
            <a:ext cx="1197864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8245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Token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2011680" y="1417320"/>
            <a:ext cx="1417320" cy="2788920"/>
          </a:xfrm>
          <a:prstGeom prst="roundRect">
            <a:avLst>
              <a:gd name="adj" fmla="val 7742"/>
            </a:avLst>
          </a:prstGeom>
          <a:solidFill>
            <a:srgbClr val="FFF0F0"/>
          </a:solidFill>
          <a:ln w="17780">
            <a:solidFill>
              <a:srgbClr val="C5141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121408" y="1627632"/>
            <a:ext cx="1197864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5141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Indexer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C5141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Top-K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703320" y="1417320"/>
            <a:ext cx="1417320" cy="2788920"/>
          </a:xfrm>
          <a:prstGeom prst="roundRect">
            <a:avLst>
              <a:gd name="adj" fmla="val 7742"/>
            </a:avLst>
          </a:prstGeom>
          <a:solidFill>
            <a:srgbClr val="FFF0F0"/>
          </a:solidFill>
          <a:ln w="17780">
            <a:solidFill>
              <a:srgbClr val="C5141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13048" y="1627632"/>
            <a:ext cx="1197864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5141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地址转换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394960" y="1417320"/>
            <a:ext cx="1417320" cy="2788920"/>
          </a:xfrm>
          <a:prstGeom prst="roundRect">
            <a:avLst>
              <a:gd name="adj" fmla="val 7742"/>
            </a:avLst>
          </a:prstGeom>
          <a:solidFill>
            <a:srgbClr val="FFF0F0"/>
          </a:solidFill>
          <a:ln w="17780">
            <a:solidFill>
              <a:srgbClr val="C5141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504688" y="1627632"/>
            <a:ext cx="1197864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5141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MTE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C5141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Completion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7424928" y="1417320"/>
            <a:ext cx="1417320" cy="2788920"/>
          </a:xfrm>
          <a:prstGeom prst="roundRect">
            <a:avLst>
              <a:gd name="adj" fmla="val 7742"/>
            </a:avLst>
          </a:prstGeom>
          <a:solidFill>
            <a:srgbClr val="EAF7EF"/>
          </a:solidFill>
          <a:ln w="17780">
            <a:solidFill>
              <a:srgbClr val="0B7A3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534656" y="1627632"/>
            <a:ext cx="1197864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7A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SSD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0B7A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KVCache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9217152" y="1417320"/>
            <a:ext cx="1417320" cy="27889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7780">
            <a:solidFill>
              <a:srgbClr val="1F5FD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326880" y="1627632"/>
            <a:ext cx="1197864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8245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Attention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832104" y="2514600"/>
            <a:ext cx="384048" cy="384048"/>
          </a:xfrm>
          <a:prstGeom prst="ellipse">
            <a:avLst/>
          </a:prstGeom>
          <a:solidFill>
            <a:srgbClr val="1F5FD1"/>
          </a:solidFill>
          <a:ln w="12700">
            <a:solidFill>
              <a:srgbClr val="1F5FD1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32104" y="2523744"/>
            <a:ext cx="384048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514600" y="2267712"/>
            <a:ext cx="411480" cy="566928"/>
          </a:xfrm>
          <a:prstGeom prst="funnel">
            <a:avLst/>
          </a:prstGeom>
          <a:solidFill>
            <a:srgbClr val="C51414"/>
          </a:solidFill>
          <a:ln w="12700">
            <a:solidFill>
              <a:srgbClr val="C5141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331720" y="2944368"/>
            <a:ext cx="77724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5141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Top-K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087368" y="2331720"/>
            <a:ext cx="658368" cy="640080"/>
          </a:xfrm>
          <a:prstGeom prst="rect">
            <a:avLst/>
          </a:prstGeom>
          <a:solidFill>
            <a:srgbClr val="FFF0F0"/>
          </a:solidFill>
          <a:ln w="12700">
            <a:solidFill>
              <a:srgbClr val="C5141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306824" y="2331720"/>
            <a:ext cx="0" cy="640080"/>
          </a:xfrm>
          <a:prstGeom prst="line">
            <a:avLst/>
          </a:prstGeom>
          <a:noFill/>
          <a:ln w="6985">
            <a:solidFill>
              <a:srgbClr val="C5141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26280" y="2331720"/>
            <a:ext cx="0" cy="640080"/>
          </a:xfrm>
          <a:prstGeom prst="line">
            <a:avLst/>
          </a:prstGeom>
          <a:noFill/>
          <a:ln w="6985">
            <a:solidFill>
              <a:srgbClr val="C5141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087368" y="2542032"/>
            <a:ext cx="658368" cy="0"/>
          </a:xfrm>
          <a:prstGeom prst="line">
            <a:avLst/>
          </a:prstGeom>
          <a:noFill/>
          <a:ln w="6985">
            <a:solidFill>
              <a:srgbClr val="C51414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087368" y="2752344"/>
            <a:ext cx="658368" cy="0"/>
          </a:xfrm>
          <a:prstGeom prst="line">
            <a:avLst/>
          </a:prstGeom>
          <a:noFill/>
          <a:ln w="6985">
            <a:solidFill>
              <a:srgbClr val="C51414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907024" y="2212848"/>
            <a:ext cx="384048" cy="384048"/>
          </a:xfrm>
          <a:prstGeom prst="ellipse">
            <a:avLst/>
          </a:prstGeom>
          <a:solidFill>
            <a:srgbClr val="C51414"/>
          </a:solidFill>
          <a:ln w="12700">
            <a:solidFill>
              <a:srgbClr val="C51414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907024" y="2221992"/>
            <a:ext cx="384048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7909560" y="2240280"/>
            <a:ext cx="502920" cy="777240"/>
          </a:xfrm>
          <a:prstGeom prst="can">
            <a:avLst/>
          </a:prstGeom>
          <a:solidFill>
            <a:srgbClr val="EAF7EF"/>
          </a:solidFill>
          <a:ln w="17780">
            <a:solidFill>
              <a:srgbClr val="0B7A3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729216" y="2432304"/>
            <a:ext cx="384048" cy="384048"/>
          </a:xfrm>
          <a:prstGeom prst="ellipse">
            <a:avLst/>
          </a:prstGeom>
          <a:solidFill>
            <a:srgbClr val="1F5FD1"/>
          </a:solidFill>
          <a:ln w="12700">
            <a:solidFill>
              <a:srgbClr val="1F5FD1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729216" y="2441448"/>
            <a:ext cx="384048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Σ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1764792" y="2807208"/>
            <a:ext cx="173736" cy="0"/>
          </a:xfrm>
          <a:prstGeom prst="line">
            <a:avLst/>
          </a:prstGeom>
          <a:noFill/>
          <a:ln w="29210">
            <a:solidFill>
              <a:srgbClr val="C51414"/>
            </a:solidFill>
            <a:prstDash val="solid"/>
            <a:headEnd type="none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3456432" y="2807208"/>
            <a:ext cx="173736" cy="0"/>
          </a:xfrm>
          <a:prstGeom prst="line">
            <a:avLst/>
          </a:prstGeom>
          <a:noFill/>
          <a:ln w="29210">
            <a:solidFill>
              <a:srgbClr val="C51414"/>
            </a:solidFill>
            <a:prstDash val="solid"/>
            <a:headEnd type="none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5148072" y="2807208"/>
            <a:ext cx="173736" cy="0"/>
          </a:xfrm>
          <a:prstGeom prst="line">
            <a:avLst/>
          </a:prstGeom>
          <a:noFill/>
          <a:ln w="29210">
            <a:solidFill>
              <a:srgbClr val="C51414"/>
            </a:solidFill>
            <a:prstDash val="solid"/>
            <a:headEnd type="none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6839712" y="2807208"/>
            <a:ext cx="512064" cy="0"/>
          </a:xfrm>
          <a:prstGeom prst="line">
            <a:avLst/>
          </a:prstGeom>
          <a:noFill/>
          <a:ln w="29210">
            <a:solidFill>
              <a:srgbClr val="0B7A3B"/>
            </a:solidFill>
            <a:prstDash val="solid"/>
            <a:headEnd type="none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8869680" y="2807208"/>
            <a:ext cx="274320" cy="0"/>
          </a:xfrm>
          <a:prstGeom prst="line">
            <a:avLst/>
          </a:prstGeom>
          <a:noFill/>
          <a:ln w="29210">
            <a:solidFill>
              <a:srgbClr val="1F5FD1"/>
            </a:solidFill>
            <a:prstDash val="solid"/>
            <a:headEnd type="none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2121408" y="3310128"/>
            <a:ext cx="1207008" cy="329184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17780">
            <a:solidFill>
              <a:srgbClr val="C5141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157984" y="3337560"/>
            <a:ext cx="1133856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C5141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Aux K Cache</a:t>
            </a:r>
            <a:endParaRPr lang="en-US" sz="880" dirty="0"/>
          </a:p>
        </p:txBody>
      </p:sp>
      <p:sp>
        <p:nvSpPr>
          <p:cNvPr id="36" name="Shape 34"/>
          <p:cNvSpPr/>
          <p:nvPr/>
        </p:nvSpPr>
        <p:spPr>
          <a:xfrm>
            <a:off x="3794760" y="3310128"/>
            <a:ext cx="1207008" cy="329184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17780">
            <a:solidFill>
              <a:srgbClr val="C5141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831336" y="3337560"/>
            <a:ext cx="1133856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C5141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Global KV Addr</a:t>
            </a:r>
            <a:endParaRPr lang="en-US" sz="880" dirty="0"/>
          </a:p>
        </p:txBody>
      </p:sp>
      <p:sp>
        <p:nvSpPr>
          <p:cNvPr id="38" name="Shape 36"/>
          <p:cNvSpPr/>
          <p:nvPr/>
        </p:nvSpPr>
        <p:spPr>
          <a:xfrm>
            <a:off x="5504688" y="3675888"/>
            <a:ext cx="1207008" cy="329184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17780">
            <a:solidFill>
              <a:srgbClr val="C51414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541264" y="3703320"/>
            <a:ext cx="1133856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C5141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Completion轮询</a:t>
            </a:r>
            <a:endParaRPr lang="en-US" sz="880" dirty="0"/>
          </a:p>
        </p:txBody>
      </p:sp>
      <p:sp>
        <p:nvSpPr>
          <p:cNvPr id="40" name="Shape 38"/>
          <p:cNvSpPr/>
          <p:nvPr/>
        </p:nvSpPr>
        <p:spPr>
          <a:xfrm>
            <a:off x="1371600" y="4681728"/>
            <a:ext cx="8778240" cy="228600"/>
          </a:xfrm>
          <a:prstGeom prst="roundRect">
            <a:avLst>
              <a:gd name="adj" fmla="val 20000"/>
            </a:avLst>
          </a:prstGeom>
          <a:solidFill>
            <a:srgbClr val="F4F7FB"/>
          </a:solidFill>
          <a:ln w="17780">
            <a:solidFill>
              <a:srgbClr val="B8C3D9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408176" y="4718304"/>
            <a:ext cx="8705088" cy="1188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C66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TensorRT-LLM DSA / GVR：Indexer、Top-K、地址转换进入Decode路径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1078992" y="5138928"/>
            <a:ext cx="9985248" cy="658368"/>
          </a:xfrm>
          <a:prstGeom prst="roundRect">
            <a:avLst>
              <a:gd name="adj" fmla="val 13889"/>
            </a:avLst>
          </a:prstGeom>
          <a:solidFill>
            <a:srgbClr val="EAF2FF"/>
          </a:solidFill>
          <a:ln w="17780">
            <a:solidFill>
              <a:srgbClr val="1F5FD1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417320" y="5266944"/>
            <a:ext cx="384048" cy="384048"/>
          </a:xfrm>
          <a:prstGeom prst="ellipse">
            <a:avLst/>
          </a:prstGeom>
          <a:solidFill>
            <a:srgbClr val="1F5FD1"/>
          </a:solidFill>
          <a:ln w="12700">
            <a:solidFill>
              <a:srgbClr val="1F5FD1">
                <a:alpha val="0"/>
              </a:srgbClr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417320" y="5276088"/>
            <a:ext cx="384048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!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1901952" y="5266944"/>
            <a:ext cx="795528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08245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稀疏减少KV读取，但增加选择/控制开销</a:t>
            </a:r>
            <a:endParaRPr lang="en-US" sz="2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11201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8245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100M IOPS：Tiny Random I/O路径不可持续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30352" y="1115568"/>
            <a:ext cx="3703320" cy="438912"/>
          </a:xfrm>
          <a:prstGeom prst="roundRect">
            <a:avLst>
              <a:gd name="adj" fmla="val 16667"/>
            </a:avLst>
          </a:prstGeom>
          <a:solidFill>
            <a:srgbClr val="EAF2FF"/>
          </a:solidFill>
          <a:ln w="17780">
            <a:solidFill>
              <a:srgbClr val="1F5FD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41832" y="1161288"/>
            <a:ext cx="292608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8245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DSA小块访问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2377440" y="1572768"/>
            <a:ext cx="0" cy="164592"/>
          </a:xfrm>
          <a:prstGeom prst="line">
            <a:avLst/>
          </a:prstGeom>
          <a:noFill/>
          <a:ln w="13970">
            <a:solidFill>
              <a:srgbClr val="5C667A"/>
            </a:solidFill>
            <a:prstDash val="solid"/>
            <a:headEnd type="none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530352" y="1773936"/>
            <a:ext cx="3703320" cy="438912"/>
          </a:xfrm>
          <a:prstGeom prst="roundRect">
            <a:avLst>
              <a:gd name="adj" fmla="val 16667"/>
            </a:avLst>
          </a:prstGeom>
          <a:solidFill>
            <a:srgbClr val="EAF2FF"/>
          </a:solidFill>
          <a:ln w="17780">
            <a:solidFill>
              <a:srgbClr val="1F5FD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41832" y="1819656"/>
            <a:ext cx="292608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8245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文件/对象/块语义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2377440" y="2231136"/>
            <a:ext cx="0" cy="164592"/>
          </a:xfrm>
          <a:prstGeom prst="line">
            <a:avLst/>
          </a:prstGeom>
          <a:noFill/>
          <a:ln w="13970">
            <a:solidFill>
              <a:srgbClr val="5C667A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530352" y="2432304"/>
            <a:ext cx="3703320" cy="438912"/>
          </a:xfrm>
          <a:prstGeom prst="roundRect">
            <a:avLst>
              <a:gd name="adj" fmla="val 16667"/>
            </a:avLst>
          </a:prstGeom>
          <a:solidFill>
            <a:srgbClr val="EAF2FF"/>
          </a:solidFill>
          <a:ln w="17780">
            <a:solidFill>
              <a:srgbClr val="1F5FD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41832" y="2478024"/>
            <a:ext cx="292608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8245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NVMe/网络协议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2377440" y="2889504"/>
            <a:ext cx="0" cy="164592"/>
          </a:xfrm>
          <a:prstGeom prst="line">
            <a:avLst/>
          </a:prstGeom>
          <a:noFill/>
          <a:ln w="13970">
            <a:solidFill>
              <a:srgbClr val="5C667A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530352" y="3090672"/>
            <a:ext cx="3703320" cy="438912"/>
          </a:xfrm>
          <a:prstGeom prst="roundRect">
            <a:avLst>
              <a:gd name="adj" fmla="val 16667"/>
            </a:avLst>
          </a:prstGeom>
          <a:solidFill>
            <a:srgbClr val="EAF2FF"/>
          </a:solidFill>
          <a:ln w="17780">
            <a:solidFill>
              <a:srgbClr val="1F5FD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41832" y="3136392"/>
            <a:ext cx="292608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8245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UB/RoCE/TCP传输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2377440" y="3547872"/>
            <a:ext cx="0" cy="164592"/>
          </a:xfrm>
          <a:prstGeom prst="line">
            <a:avLst/>
          </a:prstGeom>
          <a:noFill/>
          <a:ln w="13970">
            <a:solidFill>
              <a:srgbClr val="5C667A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530352" y="3749040"/>
            <a:ext cx="3703320" cy="438912"/>
          </a:xfrm>
          <a:prstGeom prst="roundRect">
            <a:avLst>
              <a:gd name="adj" fmla="val 16667"/>
            </a:avLst>
          </a:prstGeom>
          <a:solidFill>
            <a:srgbClr val="EAF7EF"/>
          </a:solidFill>
          <a:ln w="17780">
            <a:solidFill>
              <a:srgbClr val="0B7A3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41832" y="3794760"/>
            <a:ext cx="292608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8245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SSD控制器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2377440" y="4206240"/>
            <a:ext cx="0" cy="164592"/>
          </a:xfrm>
          <a:prstGeom prst="line">
            <a:avLst/>
          </a:prstGeom>
          <a:noFill/>
          <a:ln w="13970">
            <a:solidFill>
              <a:srgbClr val="5C667A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530352" y="4407408"/>
            <a:ext cx="3703320" cy="438912"/>
          </a:xfrm>
          <a:prstGeom prst="roundRect">
            <a:avLst>
              <a:gd name="adj" fmla="val 16667"/>
            </a:avLst>
          </a:prstGeom>
          <a:solidFill>
            <a:srgbClr val="EAF7EF"/>
          </a:solidFill>
          <a:ln w="17780">
            <a:solidFill>
              <a:srgbClr val="0B7A3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41832" y="4453128"/>
            <a:ext cx="292608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8245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介质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4892040" y="1572768"/>
            <a:ext cx="2057400" cy="2057400"/>
          </a:xfrm>
          <a:prstGeom prst="ellipse">
            <a:avLst/>
          </a:prstGeom>
          <a:solidFill>
            <a:srgbClr val="FFFFFF"/>
          </a:solidFill>
          <a:ln w="27940">
            <a:solidFill>
              <a:srgbClr val="1F5FD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175504" y="1901952"/>
            <a:ext cx="1481328" cy="8412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F5FD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100M</a:t>
            </a:r>
            <a:endParaRPr lang="en-US" sz="3000" dirty="0"/>
          </a:p>
          <a:p>
            <a:pPr algn="ctr" indent="0" marL="0">
              <a:buNone/>
            </a:pPr>
            <a:r>
              <a:rPr lang="en-US" sz="3000" b="1" dirty="0">
                <a:solidFill>
                  <a:srgbClr val="1F5FD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IOPS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5349240" y="2862072"/>
            <a:ext cx="114300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5FD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10ns / I/O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224528" y="1335024"/>
            <a:ext cx="603504" cy="1261872"/>
          </a:xfrm>
          <a:prstGeom prst="line">
            <a:avLst/>
          </a:prstGeom>
          <a:noFill/>
          <a:ln w="13970">
            <a:solidFill>
              <a:srgbClr val="1F5FD1"/>
            </a:solidFill>
            <a:prstDash val="solid"/>
            <a:headEnd type="none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4224528" y="1993392"/>
            <a:ext cx="603504" cy="603504"/>
          </a:xfrm>
          <a:prstGeom prst="line">
            <a:avLst/>
          </a:prstGeom>
          <a:noFill/>
          <a:ln w="13970">
            <a:solidFill>
              <a:srgbClr val="1F5FD1"/>
            </a:solidFill>
            <a:prstDash val="solid"/>
            <a:headEnd type="none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4224528" y="2651760"/>
            <a:ext cx="603504" cy="-54864"/>
          </a:xfrm>
          <a:prstGeom prst="line">
            <a:avLst/>
          </a:prstGeom>
          <a:noFill/>
          <a:ln w="13970">
            <a:solidFill>
              <a:srgbClr val="1F5FD1"/>
            </a:solidFill>
            <a:prstDash val="solid"/>
            <a:headEnd type="none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4224528" y="3310128"/>
            <a:ext cx="603504" cy="-713232"/>
          </a:xfrm>
          <a:prstGeom prst="line">
            <a:avLst/>
          </a:prstGeom>
          <a:noFill/>
          <a:ln w="13970">
            <a:solidFill>
              <a:srgbClr val="1F5FD1"/>
            </a:solidFill>
            <a:prstDash val="solid"/>
            <a:headEnd type="none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4224528" y="3968496"/>
            <a:ext cx="603504" cy="-1371600"/>
          </a:xfrm>
          <a:prstGeom prst="line">
            <a:avLst/>
          </a:prstGeom>
          <a:noFill/>
          <a:ln w="13970">
            <a:solidFill>
              <a:srgbClr val="1F5FD1"/>
            </a:solidFill>
            <a:prstDash val="solid"/>
            <a:headEnd type="none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4224528" y="4626864"/>
            <a:ext cx="603504" cy="-2029968"/>
          </a:xfrm>
          <a:prstGeom prst="line">
            <a:avLst/>
          </a:prstGeom>
          <a:noFill/>
          <a:ln w="13970">
            <a:solidFill>
              <a:srgbClr val="1F5FD1"/>
            </a:solidFill>
            <a:prstDash val="solid"/>
            <a:headEnd type="none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7818120" y="1353312"/>
            <a:ext cx="3063240" cy="621792"/>
          </a:xfrm>
          <a:prstGeom prst="roundRect">
            <a:avLst>
              <a:gd name="adj" fmla="val 11765"/>
            </a:avLst>
          </a:prstGeom>
          <a:solidFill>
            <a:srgbClr val="FFF0E6"/>
          </a:solidFill>
          <a:ln w="17780">
            <a:solidFill>
              <a:srgbClr val="F26A2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074152" y="1472184"/>
            <a:ext cx="384048" cy="384048"/>
          </a:xfrm>
          <a:prstGeom prst="ellipse">
            <a:avLst/>
          </a:prstGeom>
          <a:solidFill>
            <a:srgbClr val="F26A21"/>
          </a:solidFill>
          <a:ln w="12700">
            <a:solidFill>
              <a:srgbClr val="F26A21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074152" y="1481328"/>
            <a:ext cx="384048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!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8567928" y="1481328"/>
            <a:ext cx="1993392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F26A2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Tiny Random I/O</a:t>
            </a:r>
            <a:endParaRPr lang="en-US" sz="1550" dirty="0"/>
          </a:p>
        </p:txBody>
      </p:sp>
      <p:sp>
        <p:nvSpPr>
          <p:cNvPr id="33" name="Shape 31"/>
          <p:cNvSpPr/>
          <p:nvPr/>
        </p:nvSpPr>
        <p:spPr>
          <a:xfrm>
            <a:off x="6922008" y="2596896"/>
            <a:ext cx="822960" cy="-932688"/>
          </a:xfrm>
          <a:prstGeom prst="line">
            <a:avLst/>
          </a:prstGeom>
          <a:noFill/>
          <a:ln w="15240">
            <a:solidFill>
              <a:srgbClr val="F26A21"/>
            </a:solidFill>
            <a:prstDash val="solid"/>
            <a:headEnd type="none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7818120" y="2267712"/>
            <a:ext cx="3063240" cy="621792"/>
          </a:xfrm>
          <a:prstGeom prst="roundRect">
            <a:avLst>
              <a:gd name="adj" fmla="val 11765"/>
            </a:avLst>
          </a:prstGeom>
          <a:solidFill>
            <a:srgbClr val="FFF0E6"/>
          </a:solidFill>
          <a:ln w="17780">
            <a:solidFill>
              <a:srgbClr val="F26A21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074152" y="2386584"/>
            <a:ext cx="384048" cy="384048"/>
          </a:xfrm>
          <a:prstGeom prst="ellipse">
            <a:avLst/>
          </a:prstGeom>
          <a:solidFill>
            <a:srgbClr val="F26A21"/>
          </a:solidFill>
          <a:ln w="12700">
            <a:solidFill>
              <a:srgbClr val="F26A21">
                <a:alpha val="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074152" y="2395728"/>
            <a:ext cx="384048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!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8567928" y="2395728"/>
            <a:ext cx="1993392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F26A2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CPU-centric发起</a:t>
            </a:r>
            <a:endParaRPr lang="en-US" sz="1550" dirty="0"/>
          </a:p>
        </p:txBody>
      </p:sp>
      <p:sp>
        <p:nvSpPr>
          <p:cNvPr id="38" name="Shape 36"/>
          <p:cNvSpPr/>
          <p:nvPr/>
        </p:nvSpPr>
        <p:spPr>
          <a:xfrm>
            <a:off x="6922008" y="2596896"/>
            <a:ext cx="822960" cy="-18288"/>
          </a:xfrm>
          <a:prstGeom prst="line">
            <a:avLst/>
          </a:prstGeom>
          <a:noFill/>
          <a:ln w="15240">
            <a:solidFill>
              <a:srgbClr val="F26A21"/>
            </a:solidFill>
            <a:prstDash val="solid"/>
            <a:headEnd type="none"/>
            <a:tailEnd type="triangle"/>
          </a:ln>
        </p:spPr>
      </p:sp>
      <p:sp>
        <p:nvSpPr>
          <p:cNvPr id="39" name="Shape 37"/>
          <p:cNvSpPr/>
          <p:nvPr/>
        </p:nvSpPr>
        <p:spPr>
          <a:xfrm>
            <a:off x="7818120" y="3182112"/>
            <a:ext cx="3063240" cy="621792"/>
          </a:xfrm>
          <a:prstGeom prst="roundRect">
            <a:avLst>
              <a:gd name="adj" fmla="val 11765"/>
            </a:avLst>
          </a:prstGeom>
          <a:solidFill>
            <a:srgbClr val="FFF0E6"/>
          </a:solidFill>
          <a:ln w="17780">
            <a:solidFill>
              <a:srgbClr val="F26A21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8074152" y="3300984"/>
            <a:ext cx="384048" cy="384048"/>
          </a:xfrm>
          <a:prstGeom prst="ellipse">
            <a:avLst/>
          </a:prstGeom>
          <a:solidFill>
            <a:srgbClr val="F26A21"/>
          </a:solidFill>
          <a:ln w="12700">
            <a:solidFill>
              <a:srgbClr val="F26A21">
                <a:alpha val="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074152" y="3310128"/>
            <a:ext cx="384048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!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8567928" y="3310128"/>
            <a:ext cx="1993392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26A2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Completion瓶颈</a:t>
            </a:r>
            <a:endParaRPr lang="en-US" sz="1800" dirty="0"/>
          </a:p>
        </p:txBody>
      </p:sp>
      <p:sp>
        <p:nvSpPr>
          <p:cNvPr id="43" name="Shape 41"/>
          <p:cNvSpPr/>
          <p:nvPr/>
        </p:nvSpPr>
        <p:spPr>
          <a:xfrm>
            <a:off x="6922008" y="2596896"/>
            <a:ext cx="822960" cy="896112"/>
          </a:xfrm>
          <a:prstGeom prst="line">
            <a:avLst/>
          </a:prstGeom>
          <a:noFill/>
          <a:ln w="15240">
            <a:solidFill>
              <a:srgbClr val="F26A21"/>
            </a:solidFill>
            <a:prstDash val="solid"/>
            <a:headEnd type="none"/>
            <a:tailEnd type="triangle"/>
          </a:ln>
        </p:spPr>
      </p:sp>
      <p:sp>
        <p:nvSpPr>
          <p:cNvPr id="44" name="Shape 42"/>
          <p:cNvSpPr/>
          <p:nvPr/>
        </p:nvSpPr>
        <p:spPr>
          <a:xfrm>
            <a:off x="1298448" y="5193792"/>
            <a:ext cx="9052560" cy="228600"/>
          </a:xfrm>
          <a:prstGeom prst="roundRect">
            <a:avLst>
              <a:gd name="adj" fmla="val 20000"/>
            </a:avLst>
          </a:prstGeom>
          <a:solidFill>
            <a:srgbClr val="F4F7FB"/>
          </a:solidFill>
          <a:ln w="17780">
            <a:solidFill>
              <a:srgbClr val="B8C3D9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335024" y="5230368"/>
            <a:ext cx="8979408" cy="1188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C66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Tutti：碎片化GPU内存产生大量tiny random I/O；GDS仍依赖CPU发起</a:t>
            </a:r>
            <a:endParaRPr lang="en-US" sz="750" dirty="0"/>
          </a:p>
        </p:txBody>
      </p:sp>
      <p:sp>
        <p:nvSpPr>
          <p:cNvPr id="46" name="Shape 44"/>
          <p:cNvSpPr/>
          <p:nvPr/>
        </p:nvSpPr>
        <p:spPr>
          <a:xfrm>
            <a:off x="1078992" y="5650992"/>
            <a:ext cx="9985248" cy="566928"/>
          </a:xfrm>
          <a:prstGeom prst="roundRect">
            <a:avLst>
              <a:gd name="adj" fmla="val 16129"/>
            </a:avLst>
          </a:prstGeom>
          <a:solidFill>
            <a:srgbClr val="1F5FD1"/>
          </a:solidFill>
          <a:ln w="17780">
            <a:solidFill>
              <a:srgbClr val="1F5FD1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874520" y="5769864"/>
            <a:ext cx="818388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逐请求软件路径会卡在发起、链路和完成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11201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8245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生态问题：Connector与Metadata压到NPU侧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85800" y="1005840"/>
            <a:ext cx="228600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8245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访问语义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4617720" y="1005840"/>
            <a:ext cx="233172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C5141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NPU适配层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8732520" y="1005840"/>
            <a:ext cx="196596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26A2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现有问题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749808" y="1627632"/>
            <a:ext cx="2212848" cy="749808"/>
          </a:xfrm>
          <a:prstGeom prst="roundRect">
            <a:avLst>
              <a:gd name="adj" fmla="val 12195"/>
            </a:avLst>
          </a:prstGeom>
          <a:solidFill>
            <a:srgbClr val="EAF2FF"/>
          </a:solidFill>
          <a:ln w="17780">
            <a:solidFill>
              <a:srgbClr val="1F5FD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05840" y="1810512"/>
            <a:ext cx="384048" cy="384048"/>
          </a:xfrm>
          <a:prstGeom prst="folderCorner">
            <a:avLst/>
          </a:prstGeom>
          <a:solidFill>
            <a:srgbClr val="1F5FD1"/>
          </a:solidFill>
          <a:ln w="12700">
            <a:solidFill>
              <a:srgbClr val="1F5FD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591056" y="1792224"/>
            <a:ext cx="96012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8245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文件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749808" y="2670048"/>
            <a:ext cx="2212848" cy="749808"/>
          </a:xfrm>
          <a:prstGeom prst="roundRect">
            <a:avLst>
              <a:gd name="adj" fmla="val 12195"/>
            </a:avLst>
          </a:prstGeom>
          <a:solidFill>
            <a:srgbClr val="EAF2FF"/>
          </a:solidFill>
          <a:ln w="17780">
            <a:solidFill>
              <a:srgbClr val="1F5FD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05840" y="2852928"/>
            <a:ext cx="384048" cy="384048"/>
          </a:xfrm>
          <a:prstGeom prst="cube">
            <a:avLst/>
          </a:prstGeom>
          <a:solidFill>
            <a:srgbClr val="1F5FD1"/>
          </a:solidFill>
          <a:ln w="12700">
            <a:solidFill>
              <a:srgbClr val="1F5FD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591056" y="2834640"/>
            <a:ext cx="96012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8245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对象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749808" y="3712464"/>
            <a:ext cx="2212848" cy="749808"/>
          </a:xfrm>
          <a:prstGeom prst="roundRect">
            <a:avLst>
              <a:gd name="adj" fmla="val 12195"/>
            </a:avLst>
          </a:prstGeom>
          <a:solidFill>
            <a:srgbClr val="EAF2FF"/>
          </a:solidFill>
          <a:ln w="17780">
            <a:solidFill>
              <a:srgbClr val="1F5FD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05840" y="3895344"/>
            <a:ext cx="384048" cy="384048"/>
          </a:xfrm>
          <a:prstGeom prst="rect">
            <a:avLst/>
          </a:prstGeom>
          <a:solidFill>
            <a:srgbClr val="1F5FD1"/>
          </a:solidFill>
          <a:ln w="12700">
            <a:solidFill>
              <a:srgbClr val="1F5FD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133856" y="3895344"/>
            <a:ext cx="0" cy="384048"/>
          </a:xfrm>
          <a:prstGeom prst="line">
            <a:avLst/>
          </a:prstGeom>
          <a:noFill/>
          <a:ln w="6350">
            <a:solidFill>
              <a:srgbClr val="FFFF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05840" y="4023360"/>
            <a:ext cx="384048" cy="0"/>
          </a:xfrm>
          <a:prstGeom prst="line">
            <a:avLst/>
          </a:prstGeom>
          <a:noFill/>
          <a:ln w="6350">
            <a:solidFill>
              <a:srgbClr val="FFFF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261872" y="3895344"/>
            <a:ext cx="0" cy="384048"/>
          </a:xfrm>
          <a:prstGeom prst="line">
            <a:avLst/>
          </a:prstGeom>
          <a:noFill/>
          <a:ln w="6350">
            <a:solidFill>
              <a:srgbClr val="FFFF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05840" y="4151376"/>
            <a:ext cx="384048" cy="0"/>
          </a:xfrm>
          <a:prstGeom prst="line">
            <a:avLst/>
          </a:prstGeom>
          <a:noFill/>
          <a:ln w="635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591056" y="3877056"/>
            <a:ext cx="96012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8245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块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4187952" y="1444752"/>
            <a:ext cx="3246120" cy="3337560"/>
          </a:xfrm>
          <a:prstGeom prst="roundRect">
            <a:avLst>
              <a:gd name="adj" fmla="val 3380"/>
            </a:avLst>
          </a:prstGeom>
          <a:solidFill>
            <a:srgbClr val="FFF0F0"/>
          </a:solidFill>
          <a:ln w="17780">
            <a:solidFill>
              <a:srgbClr val="C5141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63440" y="1627632"/>
            <a:ext cx="2286000" cy="329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C5141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NPU适配层</a:t>
            </a:r>
            <a:endParaRPr lang="en-US" sz="2100" dirty="0"/>
          </a:p>
        </p:txBody>
      </p:sp>
      <p:sp>
        <p:nvSpPr>
          <p:cNvPr id="21" name="Text 19"/>
          <p:cNvSpPr/>
          <p:nvPr/>
        </p:nvSpPr>
        <p:spPr>
          <a:xfrm>
            <a:off x="4681728" y="1975104"/>
            <a:ext cx="228600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C5141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Connector / Metadata</a:t>
            </a:r>
            <a:endParaRPr lang="en-US" sz="1220" dirty="0"/>
          </a:p>
        </p:txBody>
      </p:sp>
      <p:sp>
        <p:nvSpPr>
          <p:cNvPr id="22" name="Shape 20"/>
          <p:cNvSpPr/>
          <p:nvPr/>
        </p:nvSpPr>
        <p:spPr>
          <a:xfrm>
            <a:off x="4526280" y="2331720"/>
            <a:ext cx="109728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7780">
            <a:solidFill>
              <a:srgbClr val="C51414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727448" y="2560320"/>
            <a:ext cx="685800" cy="0"/>
          </a:xfrm>
          <a:prstGeom prst="line">
            <a:avLst/>
          </a:prstGeom>
          <a:noFill/>
          <a:ln w="27940">
            <a:solidFill>
              <a:srgbClr val="C51414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855464" y="2468880"/>
            <a:ext cx="0" cy="201168"/>
          </a:xfrm>
          <a:prstGeom prst="line">
            <a:avLst/>
          </a:prstGeom>
          <a:noFill/>
          <a:ln w="17780">
            <a:solidFill>
              <a:srgbClr val="C5141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093208" y="2468880"/>
            <a:ext cx="0" cy="201168"/>
          </a:xfrm>
          <a:prstGeom prst="line">
            <a:avLst/>
          </a:prstGeom>
          <a:noFill/>
          <a:ln w="17780">
            <a:solidFill>
              <a:srgbClr val="C5141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330952" y="2468880"/>
            <a:ext cx="0" cy="201168"/>
          </a:xfrm>
          <a:prstGeom prst="line">
            <a:avLst/>
          </a:prstGeom>
          <a:noFill/>
          <a:ln w="17780">
            <a:solidFill>
              <a:srgbClr val="C5141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17720" y="2724912"/>
            <a:ext cx="91440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C5141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UB</a:t>
            </a:r>
            <a:endParaRPr lang="en-US" sz="1450" dirty="0"/>
          </a:p>
        </p:txBody>
      </p:sp>
      <p:sp>
        <p:nvSpPr>
          <p:cNvPr id="28" name="Shape 26"/>
          <p:cNvSpPr/>
          <p:nvPr/>
        </p:nvSpPr>
        <p:spPr>
          <a:xfrm>
            <a:off x="5870448" y="2331720"/>
            <a:ext cx="109728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7780">
            <a:solidFill>
              <a:srgbClr val="C51414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163056" y="2514600"/>
            <a:ext cx="118872" cy="118872"/>
          </a:xfrm>
          <a:prstGeom prst="ellipse">
            <a:avLst/>
          </a:prstGeom>
          <a:solidFill>
            <a:srgbClr val="C51414"/>
          </a:solidFill>
          <a:ln w="12700">
            <a:solidFill>
              <a:srgbClr val="C51414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583680" y="2514600"/>
            <a:ext cx="118872" cy="118872"/>
          </a:xfrm>
          <a:prstGeom prst="ellipse">
            <a:avLst/>
          </a:prstGeom>
          <a:solidFill>
            <a:srgbClr val="C51414"/>
          </a:solidFill>
          <a:ln w="12700">
            <a:solidFill>
              <a:srgbClr val="C51414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373368" y="2715768"/>
            <a:ext cx="118872" cy="118872"/>
          </a:xfrm>
          <a:prstGeom prst="ellipse">
            <a:avLst/>
          </a:prstGeom>
          <a:solidFill>
            <a:srgbClr val="C51414"/>
          </a:solidFill>
          <a:ln w="12700">
            <a:solidFill>
              <a:srgbClr val="C51414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227064" y="2560320"/>
            <a:ext cx="402336" cy="0"/>
          </a:xfrm>
          <a:prstGeom prst="line">
            <a:avLst/>
          </a:prstGeom>
          <a:noFill/>
          <a:ln w="12700">
            <a:solidFill>
              <a:srgbClr val="C51414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227064" y="2560320"/>
            <a:ext cx="201168" cy="182880"/>
          </a:xfrm>
          <a:prstGeom prst="line">
            <a:avLst/>
          </a:prstGeom>
          <a:noFill/>
          <a:ln w="12700">
            <a:solidFill>
              <a:srgbClr val="C51414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638544" y="2560320"/>
            <a:ext cx="-201168" cy="182880"/>
          </a:xfrm>
          <a:prstGeom prst="line">
            <a:avLst/>
          </a:prstGeom>
          <a:noFill/>
          <a:ln w="12700">
            <a:solidFill>
              <a:srgbClr val="C5141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961888" y="2724912"/>
            <a:ext cx="91440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C5141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RoCE</a:t>
            </a:r>
            <a:endParaRPr lang="en-US" sz="1450" dirty="0"/>
          </a:p>
        </p:txBody>
      </p:sp>
      <p:sp>
        <p:nvSpPr>
          <p:cNvPr id="36" name="Shape 34"/>
          <p:cNvSpPr/>
          <p:nvPr/>
        </p:nvSpPr>
        <p:spPr>
          <a:xfrm>
            <a:off x="4526280" y="3273552"/>
            <a:ext cx="109728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7780">
            <a:solidFill>
              <a:srgbClr val="C51414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818888" y="3410712"/>
            <a:ext cx="530352" cy="73152"/>
          </a:xfrm>
          <a:prstGeom prst="rect">
            <a:avLst/>
          </a:prstGeom>
          <a:solidFill>
            <a:srgbClr val="C51414"/>
          </a:solidFill>
          <a:ln w="12700">
            <a:solidFill>
              <a:srgbClr val="C51414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818888" y="3502152"/>
            <a:ext cx="530352" cy="73152"/>
          </a:xfrm>
          <a:prstGeom prst="rect">
            <a:avLst/>
          </a:prstGeom>
          <a:solidFill>
            <a:srgbClr val="C51414"/>
          </a:solidFill>
          <a:ln w="12700">
            <a:solidFill>
              <a:srgbClr val="C51414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818888" y="3593592"/>
            <a:ext cx="530352" cy="73152"/>
          </a:xfrm>
          <a:prstGeom prst="rect">
            <a:avLst/>
          </a:prstGeom>
          <a:solidFill>
            <a:srgbClr val="C51414"/>
          </a:solidFill>
          <a:ln w="12700">
            <a:solidFill>
              <a:srgbClr val="C51414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617720" y="3666744"/>
            <a:ext cx="91440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C5141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TCP</a:t>
            </a:r>
            <a:endParaRPr lang="en-US" sz="1450" dirty="0"/>
          </a:p>
        </p:txBody>
      </p:sp>
      <p:sp>
        <p:nvSpPr>
          <p:cNvPr id="41" name="Shape 39"/>
          <p:cNvSpPr/>
          <p:nvPr/>
        </p:nvSpPr>
        <p:spPr>
          <a:xfrm>
            <a:off x="5870448" y="3273552"/>
            <a:ext cx="109728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7780">
            <a:solidFill>
              <a:srgbClr val="C51414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254496" y="3383280"/>
            <a:ext cx="347472" cy="310896"/>
          </a:xfrm>
          <a:prstGeom prst="can">
            <a:avLst/>
          </a:prstGeom>
          <a:solidFill>
            <a:srgbClr val="FFF0F0"/>
          </a:solidFill>
          <a:ln w="15240">
            <a:solidFill>
              <a:srgbClr val="C51414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961888" y="3666744"/>
            <a:ext cx="91440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C5141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NVMe</a:t>
            </a:r>
            <a:endParaRPr lang="en-US" sz="1450" dirty="0"/>
          </a:p>
        </p:txBody>
      </p:sp>
      <p:sp>
        <p:nvSpPr>
          <p:cNvPr id="44" name="Text 42"/>
          <p:cNvSpPr/>
          <p:nvPr/>
        </p:nvSpPr>
        <p:spPr>
          <a:xfrm>
            <a:off x="4599432" y="4343400"/>
            <a:ext cx="242316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C5141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语义转换 + 协议适配</a:t>
            </a:r>
            <a:endParaRPr lang="en-US" sz="1250" dirty="0"/>
          </a:p>
        </p:txBody>
      </p:sp>
      <p:sp>
        <p:nvSpPr>
          <p:cNvPr id="45" name="Shape 43"/>
          <p:cNvSpPr/>
          <p:nvPr/>
        </p:nvSpPr>
        <p:spPr>
          <a:xfrm>
            <a:off x="8394192" y="1627632"/>
            <a:ext cx="2578608" cy="749808"/>
          </a:xfrm>
          <a:prstGeom prst="roundRect">
            <a:avLst>
              <a:gd name="adj" fmla="val 12195"/>
            </a:avLst>
          </a:prstGeom>
          <a:solidFill>
            <a:srgbClr val="FFF0E6"/>
          </a:solidFill>
          <a:ln w="17780">
            <a:solidFill>
              <a:srgbClr val="F26A21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650224" y="1810512"/>
            <a:ext cx="384048" cy="384048"/>
          </a:xfrm>
          <a:prstGeom prst="ellipse">
            <a:avLst/>
          </a:prstGeom>
          <a:solidFill>
            <a:srgbClr val="F26A21"/>
          </a:solidFill>
          <a:ln w="12700">
            <a:solidFill>
              <a:srgbClr val="F26A21">
                <a:alpha val="0"/>
              </a:srgbClr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8650224" y="1819656"/>
            <a:ext cx="384048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!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9198864" y="1801368"/>
            <a:ext cx="141732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26A2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接口割裂</a:t>
            </a:r>
            <a:endParaRPr lang="en-US" sz="1800" dirty="0"/>
          </a:p>
        </p:txBody>
      </p:sp>
      <p:sp>
        <p:nvSpPr>
          <p:cNvPr id="49" name="Shape 47"/>
          <p:cNvSpPr/>
          <p:nvPr/>
        </p:nvSpPr>
        <p:spPr>
          <a:xfrm>
            <a:off x="8394192" y="2670048"/>
            <a:ext cx="2578608" cy="749808"/>
          </a:xfrm>
          <a:prstGeom prst="roundRect">
            <a:avLst>
              <a:gd name="adj" fmla="val 12195"/>
            </a:avLst>
          </a:prstGeom>
          <a:solidFill>
            <a:srgbClr val="FFF0E6"/>
          </a:solidFill>
          <a:ln w="17780">
            <a:solidFill>
              <a:srgbClr val="F26A21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8650224" y="2852928"/>
            <a:ext cx="384048" cy="384048"/>
          </a:xfrm>
          <a:prstGeom prst="ellipse">
            <a:avLst/>
          </a:prstGeom>
          <a:solidFill>
            <a:srgbClr val="F26A21"/>
          </a:solidFill>
          <a:ln w="12700">
            <a:solidFill>
              <a:srgbClr val="F26A21">
                <a:alpha val="0"/>
              </a:srgbClr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8650224" y="2862072"/>
            <a:ext cx="384048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!</a:t>
            </a:r>
            <a:endParaRPr lang="en-US" sz="1300" dirty="0"/>
          </a:p>
        </p:txBody>
      </p:sp>
      <p:sp>
        <p:nvSpPr>
          <p:cNvPr id="52" name="Text 50"/>
          <p:cNvSpPr/>
          <p:nvPr/>
        </p:nvSpPr>
        <p:spPr>
          <a:xfrm>
            <a:off x="9198864" y="2843784"/>
            <a:ext cx="141732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26A2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元数据分散</a:t>
            </a:r>
            <a:endParaRPr lang="en-US" sz="1800" dirty="0"/>
          </a:p>
        </p:txBody>
      </p:sp>
      <p:sp>
        <p:nvSpPr>
          <p:cNvPr id="53" name="Shape 51"/>
          <p:cNvSpPr/>
          <p:nvPr/>
        </p:nvSpPr>
        <p:spPr>
          <a:xfrm>
            <a:off x="8394192" y="3712464"/>
            <a:ext cx="2578608" cy="749808"/>
          </a:xfrm>
          <a:prstGeom prst="roundRect">
            <a:avLst>
              <a:gd name="adj" fmla="val 12195"/>
            </a:avLst>
          </a:prstGeom>
          <a:solidFill>
            <a:srgbClr val="FFF0E6"/>
          </a:solidFill>
          <a:ln w="17780">
            <a:solidFill>
              <a:srgbClr val="F26A21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8650224" y="3895344"/>
            <a:ext cx="384048" cy="384048"/>
          </a:xfrm>
          <a:prstGeom prst="ellipse">
            <a:avLst/>
          </a:prstGeom>
          <a:solidFill>
            <a:srgbClr val="F26A21"/>
          </a:solidFill>
          <a:ln w="12700">
            <a:solidFill>
              <a:srgbClr val="F26A21">
                <a:alpha val="0"/>
              </a:srgbClr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8650224" y="3904488"/>
            <a:ext cx="384048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!</a:t>
            </a:r>
            <a:endParaRPr lang="en-US" sz="1300" dirty="0"/>
          </a:p>
        </p:txBody>
      </p:sp>
      <p:sp>
        <p:nvSpPr>
          <p:cNvPr id="56" name="Text 54"/>
          <p:cNvSpPr/>
          <p:nvPr/>
        </p:nvSpPr>
        <p:spPr>
          <a:xfrm>
            <a:off x="9198864" y="3886200"/>
            <a:ext cx="141732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26A2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调试困难</a:t>
            </a:r>
            <a:endParaRPr lang="en-US" sz="1800" dirty="0"/>
          </a:p>
        </p:txBody>
      </p:sp>
      <p:sp>
        <p:nvSpPr>
          <p:cNvPr id="57" name="Shape 55"/>
          <p:cNvSpPr/>
          <p:nvPr/>
        </p:nvSpPr>
        <p:spPr>
          <a:xfrm>
            <a:off x="3099816" y="2002536"/>
            <a:ext cx="905256" cy="1088136"/>
          </a:xfrm>
          <a:prstGeom prst="line">
            <a:avLst/>
          </a:prstGeom>
          <a:noFill/>
          <a:ln w="24130">
            <a:solidFill>
              <a:srgbClr val="1F5FD1"/>
            </a:solidFill>
            <a:prstDash val="solid"/>
            <a:headEnd type="none"/>
            <a:tailEnd type="triangle"/>
          </a:ln>
        </p:spPr>
      </p:sp>
      <p:sp>
        <p:nvSpPr>
          <p:cNvPr id="58" name="Shape 56"/>
          <p:cNvSpPr/>
          <p:nvPr/>
        </p:nvSpPr>
        <p:spPr>
          <a:xfrm>
            <a:off x="3099816" y="3044952"/>
            <a:ext cx="905256" cy="45720"/>
          </a:xfrm>
          <a:prstGeom prst="line">
            <a:avLst/>
          </a:prstGeom>
          <a:noFill/>
          <a:ln w="24130">
            <a:solidFill>
              <a:srgbClr val="1F5FD1"/>
            </a:solidFill>
            <a:prstDash val="solid"/>
            <a:headEnd type="none"/>
            <a:tailEnd type="triangle"/>
          </a:ln>
        </p:spPr>
      </p:sp>
      <p:sp>
        <p:nvSpPr>
          <p:cNvPr id="59" name="Shape 57"/>
          <p:cNvSpPr/>
          <p:nvPr/>
        </p:nvSpPr>
        <p:spPr>
          <a:xfrm>
            <a:off x="3099816" y="4087368"/>
            <a:ext cx="905256" cy="-996696"/>
          </a:xfrm>
          <a:prstGeom prst="line">
            <a:avLst/>
          </a:prstGeom>
          <a:noFill/>
          <a:ln w="24130">
            <a:solidFill>
              <a:srgbClr val="1F5FD1"/>
            </a:solidFill>
            <a:prstDash val="solid"/>
            <a:headEnd type="none"/>
            <a:tailEnd type="triangle"/>
          </a:ln>
        </p:spPr>
      </p:sp>
      <p:sp>
        <p:nvSpPr>
          <p:cNvPr id="60" name="Shape 58"/>
          <p:cNvSpPr/>
          <p:nvPr/>
        </p:nvSpPr>
        <p:spPr>
          <a:xfrm>
            <a:off x="7571232" y="3090672"/>
            <a:ext cx="685800" cy="-1088136"/>
          </a:xfrm>
          <a:prstGeom prst="line">
            <a:avLst/>
          </a:prstGeom>
          <a:noFill/>
          <a:ln w="24130">
            <a:solidFill>
              <a:srgbClr val="F26A21"/>
            </a:solidFill>
            <a:prstDash val="solid"/>
            <a:headEnd type="none"/>
            <a:tailEnd type="triangle"/>
          </a:ln>
        </p:spPr>
      </p:sp>
      <p:sp>
        <p:nvSpPr>
          <p:cNvPr id="61" name="Shape 59"/>
          <p:cNvSpPr/>
          <p:nvPr/>
        </p:nvSpPr>
        <p:spPr>
          <a:xfrm>
            <a:off x="7571232" y="3090672"/>
            <a:ext cx="685800" cy="-45720"/>
          </a:xfrm>
          <a:prstGeom prst="line">
            <a:avLst/>
          </a:prstGeom>
          <a:noFill/>
          <a:ln w="24130">
            <a:solidFill>
              <a:srgbClr val="F26A21"/>
            </a:solidFill>
            <a:prstDash val="solid"/>
            <a:headEnd type="none"/>
            <a:tailEnd type="triangle"/>
          </a:ln>
        </p:spPr>
      </p:sp>
      <p:sp>
        <p:nvSpPr>
          <p:cNvPr id="62" name="Shape 60"/>
          <p:cNvSpPr/>
          <p:nvPr/>
        </p:nvSpPr>
        <p:spPr>
          <a:xfrm>
            <a:off x="7571232" y="3090672"/>
            <a:ext cx="685800" cy="996696"/>
          </a:xfrm>
          <a:prstGeom prst="line">
            <a:avLst/>
          </a:prstGeom>
          <a:noFill/>
          <a:ln w="24130">
            <a:solidFill>
              <a:srgbClr val="F26A21"/>
            </a:solidFill>
            <a:prstDash val="solid"/>
            <a:headEnd type="none"/>
            <a:tailEnd type="triangle"/>
          </a:ln>
        </p:spPr>
      </p:sp>
      <p:sp>
        <p:nvSpPr>
          <p:cNvPr id="63" name="Shape 61"/>
          <p:cNvSpPr/>
          <p:nvPr/>
        </p:nvSpPr>
        <p:spPr>
          <a:xfrm>
            <a:off x="1572768" y="5138928"/>
            <a:ext cx="8321040" cy="228600"/>
          </a:xfrm>
          <a:prstGeom prst="roundRect">
            <a:avLst>
              <a:gd name="adj" fmla="val 20000"/>
            </a:avLst>
          </a:prstGeom>
          <a:solidFill>
            <a:srgbClr val="F4F7FB"/>
          </a:solidFill>
          <a:ln w="17780">
            <a:solidFill>
              <a:srgbClr val="B8C3D9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1609344" y="5175504"/>
            <a:ext cx="8247888" cy="1188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C66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LMCache / SPIN：多KV布局、多存储层需要统一connector与metadata</a:t>
            </a:r>
            <a:endParaRPr lang="en-US" sz="750" dirty="0"/>
          </a:p>
        </p:txBody>
      </p:sp>
      <p:sp>
        <p:nvSpPr>
          <p:cNvPr id="65" name="Shape 63"/>
          <p:cNvSpPr/>
          <p:nvPr/>
        </p:nvSpPr>
        <p:spPr>
          <a:xfrm>
            <a:off x="1078992" y="5504688"/>
            <a:ext cx="9985248" cy="621792"/>
          </a:xfrm>
          <a:prstGeom prst="roundRect">
            <a:avLst>
              <a:gd name="adj" fmla="val 14706"/>
            </a:avLst>
          </a:prstGeom>
          <a:solidFill>
            <a:srgbClr val="EAF2FF"/>
          </a:solidFill>
          <a:ln w="17780">
            <a:solidFill>
              <a:srgbClr val="1F5FD1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1600200" y="5650992"/>
            <a:ext cx="891540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8245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多语义、多协议、多KV布局让NPU适配成本上升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PingFang S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ingFang S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DSA稀疏推理SSD KVCache访问问题</dc:title>
  <dc:subject>DSA sparse inference SSD KVCache</dc:subject>
  <dc:creator>Codex</dc:creator>
  <cp:lastModifiedBy>Codex</cp:lastModifiedBy>
  <cp:revision>1</cp:revision>
  <dcterms:created xsi:type="dcterms:W3CDTF">2026-06-01T01:44:00Z</dcterms:created>
  <dcterms:modified xsi:type="dcterms:W3CDTF">2026-06-01T01:44:00Z</dcterms:modified>
</cp:coreProperties>
</file>