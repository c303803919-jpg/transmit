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7315200"/>
  <p:notesSz cx="73152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8840" y="292608"/>
            <a:ext cx="103327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NPU侧开销：控制面进入Decode热路径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237744" y="1737360"/>
            <a:ext cx="1737360" cy="3154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9210">
            <a:solidFill>
              <a:srgbClr val="0B3F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6616" y="1993392"/>
            <a:ext cx="149961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3F9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697480" y="1737360"/>
            <a:ext cx="1737360" cy="3154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9210">
            <a:solidFill>
              <a:srgbClr val="0B3F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16352" y="1993392"/>
            <a:ext cx="149961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3F9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稀疏选择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157216" y="1737360"/>
            <a:ext cx="1737360" cy="3154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9210">
            <a:solidFill>
              <a:srgbClr val="0B3F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76088" y="1993392"/>
            <a:ext cx="149961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3F9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地址生成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424928" y="1737360"/>
            <a:ext cx="1737360" cy="3154680"/>
          </a:xfrm>
          <a:prstGeom prst="roundRect">
            <a:avLst>
              <a:gd name="adj" fmla="val 6316"/>
            </a:avLst>
          </a:prstGeom>
          <a:solidFill>
            <a:srgbClr val="FFF0F0"/>
          </a:solidFill>
          <a:ln w="29210">
            <a:solidFill>
              <a:srgbClr val="AA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1975104"/>
            <a:ext cx="149961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AA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MTE发起/监控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0387584" y="1737360"/>
            <a:ext cx="1737360" cy="3154680"/>
          </a:xfrm>
          <a:prstGeom prst="roundRect">
            <a:avLst>
              <a:gd name="adj" fmla="val 6316"/>
            </a:avLst>
          </a:prstGeom>
          <a:solidFill>
            <a:srgbClr val="EAF7EF"/>
          </a:solidFill>
          <a:ln w="29210">
            <a:solidFill>
              <a:srgbClr val="0A7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06456" y="1993392"/>
            <a:ext cx="149961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7A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SSD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A7A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KVCache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545568" y="1737360"/>
            <a:ext cx="1737360" cy="3154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9210">
            <a:solidFill>
              <a:srgbClr val="0B3F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64440" y="1993392"/>
            <a:ext cx="149961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3F9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Attention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68096" y="2898648"/>
            <a:ext cx="667512" cy="841248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25400">
            <a:solidFill>
              <a:srgbClr val="0B3F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3154680"/>
            <a:ext cx="310896" cy="45720"/>
          </a:xfrm>
          <a:prstGeom prst="roundRect">
            <a:avLst>
              <a:gd name="adj" fmla="val 40000"/>
            </a:avLst>
          </a:prstGeom>
          <a:solidFill>
            <a:srgbClr val="5CA2FF"/>
          </a:solidFill>
          <a:ln w="12700">
            <a:solidFill>
              <a:srgbClr val="5CA2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" y="3310128"/>
            <a:ext cx="310896" cy="45720"/>
          </a:xfrm>
          <a:prstGeom prst="roundRect">
            <a:avLst>
              <a:gd name="adj" fmla="val 40000"/>
            </a:avLst>
          </a:prstGeom>
          <a:solidFill>
            <a:srgbClr val="5CA2FF"/>
          </a:solidFill>
          <a:ln w="12700">
            <a:solidFill>
              <a:srgbClr val="5CA2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" y="3465576"/>
            <a:ext cx="310896" cy="45720"/>
          </a:xfrm>
          <a:prstGeom prst="roundRect">
            <a:avLst>
              <a:gd name="adj" fmla="val 40000"/>
            </a:avLst>
          </a:prstGeom>
          <a:solidFill>
            <a:srgbClr val="5CA2FF"/>
          </a:solidFill>
          <a:ln w="12700">
            <a:solidFill>
              <a:srgbClr val="5CA2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82696" y="276148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C9D3E4"/>
          </a:solidFill>
          <a:ln w="6350">
            <a:solidFill>
              <a:srgbClr val="C9D3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276148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C9D3E4"/>
          </a:solidFill>
          <a:ln w="6350">
            <a:solidFill>
              <a:srgbClr val="C9D3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66744" y="276148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C9D3E4"/>
          </a:solidFill>
          <a:ln w="6350">
            <a:solidFill>
              <a:srgbClr val="C9D3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58768" y="276148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C9D3E4"/>
          </a:solidFill>
          <a:ln w="6350">
            <a:solidFill>
              <a:srgbClr val="C9D3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50792" y="276148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2F7DE1"/>
          </a:solidFill>
          <a:ln w="6350">
            <a:solidFill>
              <a:srgbClr val="2F7D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82696" y="2962656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C9D3E4"/>
          </a:solidFill>
          <a:ln w="6350">
            <a:solidFill>
              <a:srgbClr val="C9D3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962656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C9D3E4"/>
          </a:solidFill>
          <a:ln w="6350">
            <a:solidFill>
              <a:srgbClr val="C9D3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66744" y="2962656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2F7DE1"/>
          </a:solidFill>
          <a:ln w="6350">
            <a:solidFill>
              <a:srgbClr val="2F7D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58768" y="2962656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C9D3E4"/>
          </a:solidFill>
          <a:ln w="6350">
            <a:solidFill>
              <a:srgbClr val="C9D3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0792" y="2962656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C9D3E4"/>
          </a:solidFill>
          <a:ln w="6350">
            <a:solidFill>
              <a:srgbClr val="C9D3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82696" y="3163824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2F7DE1"/>
          </a:solidFill>
          <a:ln w="6350">
            <a:solidFill>
              <a:srgbClr val="2F7D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163824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C9D3E4"/>
          </a:solidFill>
          <a:ln w="6350">
            <a:solidFill>
              <a:srgbClr val="C9D3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66744" y="3163824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C9D3E4"/>
          </a:solidFill>
          <a:ln w="6350">
            <a:solidFill>
              <a:srgbClr val="C9D3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58768" y="3163824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C9D3E4"/>
          </a:solidFill>
          <a:ln w="6350">
            <a:solidFill>
              <a:srgbClr val="C9D3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50792" y="3163824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C9D3E4"/>
          </a:solidFill>
          <a:ln w="6350">
            <a:solidFill>
              <a:srgbClr val="C9D3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0800000">
            <a:off x="3483864" y="3438144"/>
            <a:ext cx="685800" cy="438912"/>
          </a:xfrm>
          <a:prstGeom prst="triangle">
            <a:avLst/>
          </a:prstGeom>
          <a:solidFill>
            <a:srgbClr val="5CA2FF"/>
          </a:solidFill>
          <a:ln w="12700">
            <a:solidFill>
              <a:srgbClr val="5CA2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82696" y="404164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2F7DE1"/>
          </a:solidFill>
          <a:ln w="12700">
            <a:solidFill>
              <a:srgbClr val="2F7D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0" y="404164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2F7DE1"/>
          </a:solidFill>
          <a:ln w="12700">
            <a:solidFill>
              <a:srgbClr val="2F7D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66744" y="404164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2F7DE1"/>
          </a:solidFill>
          <a:ln w="12700">
            <a:solidFill>
              <a:srgbClr val="2F7D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58768" y="404164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2F7DE1"/>
          </a:solidFill>
          <a:ln w="12700">
            <a:solidFill>
              <a:srgbClr val="2F7D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50792" y="404164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2F7DE1"/>
          </a:solidFill>
          <a:ln w="12700">
            <a:solidFill>
              <a:srgbClr val="2F7D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86984" y="2880360"/>
            <a:ext cx="1143000" cy="932688"/>
          </a:xfrm>
          <a:prstGeom prst="rect">
            <a:avLst/>
          </a:prstGeom>
          <a:solidFill>
            <a:srgbClr val="FFFFFF"/>
          </a:solidFill>
          <a:ln w="22860">
            <a:solidFill>
              <a:srgbClr val="0B3F9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72734" y="2880360"/>
            <a:ext cx="0" cy="932688"/>
          </a:xfrm>
          <a:prstGeom prst="line">
            <a:avLst/>
          </a:prstGeom>
          <a:noFill/>
          <a:ln w="12700">
            <a:solidFill>
              <a:srgbClr val="0B3F9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58484" y="2880360"/>
            <a:ext cx="0" cy="932688"/>
          </a:xfrm>
          <a:prstGeom prst="line">
            <a:avLst/>
          </a:prstGeom>
          <a:noFill/>
          <a:ln w="12700">
            <a:solidFill>
              <a:srgbClr val="0B3F9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4234" y="2880360"/>
            <a:ext cx="0" cy="932688"/>
          </a:xfrm>
          <a:prstGeom prst="line">
            <a:avLst/>
          </a:prstGeom>
          <a:noFill/>
          <a:ln w="12700">
            <a:solidFill>
              <a:srgbClr val="0B3F9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86984" y="3113532"/>
            <a:ext cx="1143000" cy="0"/>
          </a:xfrm>
          <a:prstGeom prst="line">
            <a:avLst/>
          </a:prstGeom>
          <a:noFill/>
          <a:ln w="12700">
            <a:solidFill>
              <a:srgbClr val="0B3F9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86984" y="3346704"/>
            <a:ext cx="1143000" cy="0"/>
          </a:xfrm>
          <a:prstGeom prst="line">
            <a:avLst/>
          </a:prstGeom>
          <a:noFill/>
          <a:ln w="12700">
            <a:solidFill>
              <a:srgbClr val="0B3F9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86984" y="3579876"/>
            <a:ext cx="1143000" cy="0"/>
          </a:xfrm>
          <a:prstGeom prst="line">
            <a:avLst/>
          </a:prstGeom>
          <a:noFill/>
          <a:ln w="12700">
            <a:solidFill>
              <a:srgbClr val="0B3F9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37376" y="2880360"/>
            <a:ext cx="292608" cy="228600"/>
          </a:xfrm>
          <a:prstGeom prst="rect">
            <a:avLst/>
          </a:prstGeom>
          <a:solidFill>
            <a:srgbClr val="72A9FF">
              <a:alpha val="85000"/>
            </a:srgbClr>
          </a:solidFill>
          <a:ln w="12700">
            <a:solidFill>
              <a:srgbClr val="72A9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37376" y="3355848"/>
            <a:ext cx="292608" cy="457200"/>
          </a:xfrm>
          <a:prstGeom prst="rect">
            <a:avLst/>
          </a:prstGeom>
          <a:solidFill>
            <a:srgbClr val="72A9FF">
              <a:alpha val="85000"/>
            </a:srgbClr>
          </a:solidFill>
          <a:ln w="12700">
            <a:solidFill>
              <a:srgbClr val="72A9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01000" y="2688336"/>
            <a:ext cx="658368" cy="530352"/>
          </a:xfrm>
          <a:prstGeom prst="rect">
            <a:avLst/>
          </a:prstGeom>
          <a:solidFill>
            <a:srgbClr val="FFFFFF"/>
          </a:solidFill>
          <a:ln w="25400">
            <a:solidFill>
              <a:srgbClr val="AA11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28432" y="2779776"/>
            <a:ext cx="60350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A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MTE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7909560" y="2752344"/>
            <a:ext cx="91440" cy="0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59368" y="2752344"/>
            <a:ext cx="91440" cy="0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74152" y="2596896"/>
            <a:ext cx="0" cy="91440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74152" y="3218688"/>
            <a:ext cx="0" cy="100584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09560" y="2843784"/>
            <a:ext cx="91440" cy="0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59368" y="2843784"/>
            <a:ext cx="91440" cy="0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83880" y="2596896"/>
            <a:ext cx="0" cy="91440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83880" y="3218688"/>
            <a:ext cx="0" cy="100584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09560" y="2935224"/>
            <a:ext cx="91440" cy="0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59368" y="2935224"/>
            <a:ext cx="91440" cy="0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93608" y="2596896"/>
            <a:ext cx="0" cy="91440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93608" y="3218688"/>
            <a:ext cx="0" cy="100584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3026664"/>
            <a:ext cx="91440" cy="0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59368" y="3026664"/>
            <a:ext cx="91440" cy="0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03336" y="2596896"/>
            <a:ext cx="0" cy="91440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03336" y="3218688"/>
            <a:ext cx="0" cy="100584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09560" y="3118104"/>
            <a:ext cx="91440" cy="0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59368" y="3118104"/>
            <a:ext cx="91440" cy="0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13064" y="2596896"/>
            <a:ext cx="0" cy="91440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513064" y="3218688"/>
            <a:ext cx="0" cy="100584"/>
          </a:xfrm>
          <a:prstGeom prst="line">
            <a:avLst/>
          </a:prstGeom>
          <a:noFill/>
          <a:ln w="19050">
            <a:solidFill>
              <a:srgbClr val="AA111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899648" y="2788920"/>
            <a:ext cx="73152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A7A3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009376" y="2971800"/>
            <a:ext cx="502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7A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SSD</a:t>
            </a:r>
            <a:endParaRPr lang="en-US" sz="1700" dirty="0"/>
          </a:p>
        </p:txBody>
      </p:sp>
      <p:sp>
        <p:nvSpPr>
          <p:cNvPr id="73" name="Shape 71"/>
          <p:cNvSpPr/>
          <p:nvPr/>
        </p:nvSpPr>
        <p:spPr>
          <a:xfrm>
            <a:off x="11009376" y="3429000"/>
            <a:ext cx="109728" cy="109728"/>
          </a:xfrm>
          <a:prstGeom prst="rect">
            <a:avLst/>
          </a:prstGeom>
          <a:solidFill>
            <a:srgbClr val="0A7A3B"/>
          </a:solidFill>
          <a:ln w="12700">
            <a:solidFill>
              <a:srgbClr val="0A7A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183112" y="3429000"/>
            <a:ext cx="109728" cy="109728"/>
          </a:xfrm>
          <a:prstGeom prst="rect">
            <a:avLst/>
          </a:prstGeom>
          <a:solidFill>
            <a:srgbClr val="0A7A3B"/>
          </a:solidFill>
          <a:ln w="12700">
            <a:solidFill>
              <a:srgbClr val="0A7A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356848" y="3429000"/>
            <a:ext cx="109728" cy="109728"/>
          </a:xfrm>
          <a:prstGeom prst="rect">
            <a:avLst/>
          </a:prstGeom>
          <a:solidFill>
            <a:srgbClr val="0A7A3B"/>
          </a:solidFill>
          <a:ln w="12700">
            <a:solidFill>
              <a:srgbClr val="0A7A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009376" y="3593592"/>
            <a:ext cx="109728" cy="109728"/>
          </a:xfrm>
          <a:prstGeom prst="rect">
            <a:avLst/>
          </a:prstGeom>
          <a:solidFill>
            <a:srgbClr val="0A7A3B"/>
          </a:solidFill>
          <a:ln w="12700">
            <a:solidFill>
              <a:srgbClr val="0A7A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183112" y="3593592"/>
            <a:ext cx="109728" cy="109728"/>
          </a:xfrm>
          <a:prstGeom prst="rect">
            <a:avLst/>
          </a:prstGeom>
          <a:solidFill>
            <a:srgbClr val="0A7A3B"/>
          </a:solidFill>
          <a:ln w="12700">
            <a:solidFill>
              <a:srgbClr val="0A7A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356848" y="3593592"/>
            <a:ext cx="109728" cy="109728"/>
          </a:xfrm>
          <a:prstGeom prst="rect">
            <a:avLst/>
          </a:prstGeom>
          <a:solidFill>
            <a:srgbClr val="0A7A3B"/>
          </a:solidFill>
          <a:ln w="12700">
            <a:solidFill>
              <a:srgbClr val="0A7A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009376" y="3758184"/>
            <a:ext cx="109728" cy="109728"/>
          </a:xfrm>
          <a:prstGeom prst="rect">
            <a:avLst/>
          </a:prstGeom>
          <a:solidFill>
            <a:srgbClr val="0A7A3B"/>
          </a:solidFill>
          <a:ln w="12700">
            <a:solidFill>
              <a:srgbClr val="0A7A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183112" y="3758184"/>
            <a:ext cx="109728" cy="109728"/>
          </a:xfrm>
          <a:prstGeom prst="rect">
            <a:avLst/>
          </a:prstGeom>
          <a:solidFill>
            <a:srgbClr val="0A7A3B"/>
          </a:solidFill>
          <a:ln w="12700">
            <a:solidFill>
              <a:srgbClr val="0A7A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356848" y="3758184"/>
            <a:ext cx="109728" cy="109728"/>
          </a:xfrm>
          <a:prstGeom prst="rect">
            <a:avLst/>
          </a:prstGeom>
          <a:solidFill>
            <a:srgbClr val="0A7A3B"/>
          </a:solidFill>
          <a:ln w="12700">
            <a:solidFill>
              <a:srgbClr val="0A7A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466576" y="3950208"/>
            <a:ext cx="36576" cy="36576"/>
          </a:xfrm>
          <a:prstGeom prst="ellipse">
            <a:avLst/>
          </a:prstGeom>
          <a:solidFill>
            <a:srgbClr val="0A7A3B"/>
          </a:solidFill>
          <a:ln w="12700">
            <a:solidFill>
              <a:srgbClr val="0A7A3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1466576" y="3959352"/>
            <a:ext cx="36576" cy="18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84" name="Shape 82"/>
          <p:cNvSpPr/>
          <p:nvPr/>
        </p:nvSpPr>
        <p:spPr>
          <a:xfrm>
            <a:off x="11576304" y="3950208"/>
            <a:ext cx="36576" cy="36576"/>
          </a:xfrm>
          <a:prstGeom prst="ellipse">
            <a:avLst/>
          </a:prstGeom>
          <a:solidFill>
            <a:srgbClr val="0A7A3B"/>
          </a:solidFill>
          <a:ln w="12700">
            <a:solidFill>
              <a:srgbClr val="0A7A3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1576304" y="3959352"/>
            <a:ext cx="36576" cy="18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86" name="Shape 84"/>
          <p:cNvSpPr/>
          <p:nvPr/>
        </p:nvSpPr>
        <p:spPr>
          <a:xfrm>
            <a:off x="12911328" y="2880360"/>
            <a:ext cx="173736" cy="164592"/>
          </a:xfrm>
          <a:prstGeom prst="rect">
            <a:avLst/>
          </a:prstGeom>
          <a:solidFill>
            <a:srgbClr val="C8DB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3085064" y="2880360"/>
            <a:ext cx="173736" cy="164592"/>
          </a:xfrm>
          <a:prstGeom prst="rect">
            <a:avLst/>
          </a:prstGeom>
          <a:solidFill>
            <a:srgbClr val="A9C7FC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3258800" y="2880360"/>
            <a:ext cx="173736" cy="164592"/>
          </a:xfrm>
          <a:prstGeom prst="rect">
            <a:avLst/>
          </a:prstGeom>
          <a:solidFill>
            <a:srgbClr val="7BAAF5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3432536" y="2880360"/>
            <a:ext cx="173736" cy="164592"/>
          </a:xfrm>
          <a:prstGeom prst="rect">
            <a:avLst/>
          </a:prstGeom>
          <a:solidFill>
            <a:srgbClr val="3D78DC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2911328" y="3044952"/>
            <a:ext cx="173736" cy="164592"/>
          </a:xfrm>
          <a:prstGeom prst="rect">
            <a:avLst/>
          </a:prstGeom>
          <a:solidFill>
            <a:srgbClr val="A9C7FC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3085064" y="3044952"/>
            <a:ext cx="173736" cy="164592"/>
          </a:xfrm>
          <a:prstGeom prst="rect">
            <a:avLst/>
          </a:prstGeom>
          <a:solidFill>
            <a:srgbClr val="7BAAF5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3258800" y="3044952"/>
            <a:ext cx="173736" cy="164592"/>
          </a:xfrm>
          <a:prstGeom prst="rect">
            <a:avLst/>
          </a:prstGeom>
          <a:solidFill>
            <a:srgbClr val="3D78DC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3432536" y="3044952"/>
            <a:ext cx="173736" cy="164592"/>
          </a:xfrm>
          <a:prstGeom prst="rect">
            <a:avLst/>
          </a:prstGeom>
          <a:solidFill>
            <a:srgbClr val="0B3F9C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2911328" y="3209544"/>
            <a:ext cx="173736" cy="164592"/>
          </a:xfrm>
          <a:prstGeom prst="rect">
            <a:avLst/>
          </a:prstGeom>
          <a:solidFill>
            <a:srgbClr val="7BAAF5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3085064" y="3209544"/>
            <a:ext cx="173736" cy="164592"/>
          </a:xfrm>
          <a:prstGeom prst="rect">
            <a:avLst/>
          </a:prstGeom>
          <a:solidFill>
            <a:srgbClr val="3D78DC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3258800" y="3209544"/>
            <a:ext cx="173736" cy="164592"/>
          </a:xfrm>
          <a:prstGeom prst="rect">
            <a:avLst/>
          </a:prstGeom>
          <a:solidFill>
            <a:srgbClr val="0B3F9C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3432536" y="3209544"/>
            <a:ext cx="173736" cy="164592"/>
          </a:xfrm>
          <a:prstGeom prst="rect">
            <a:avLst/>
          </a:prstGeom>
          <a:solidFill>
            <a:srgbClr val="C8DB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2911328" y="3374136"/>
            <a:ext cx="173736" cy="164592"/>
          </a:xfrm>
          <a:prstGeom prst="rect">
            <a:avLst/>
          </a:prstGeom>
          <a:solidFill>
            <a:srgbClr val="3D78DC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3085064" y="3374136"/>
            <a:ext cx="173736" cy="164592"/>
          </a:xfrm>
          <a:prstGeom prst="rect">
            <a:avLst/>
          </a:prstGeom>
          <a:solidFill>
            <a:srgbClr val="0B3F9C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3258800" y="3374136"/>
            <a:ext cx="173736" cy="164592"/>
          </a:xfrm>
          <a:prstGeom prst="rect">
            <a:avLst/>
          </a:prstGeom>
          <a:solidFill>
            <a:srgbClr val="C8DB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3432536" y="3374136"/>
            <a:ext cx="173736" cy="164592"/>
          </a:xfrm>
          <a:prstGeom prst="rect">
            <a:avLst/>
          </a:prstGeom>
          <a:solidFill>
            <a:srgbClr val="A9C7FC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3670280" y="2907792"/>
            <a:ext cx="10972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3F9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3679424" y="3255264"/>
            <a:ext cx="91440" cy="292608"/>
          </a:xfrm>
          <a:prstGeom prst="rect">
            <a:avLst/>
          </a:prstGeom>
          <a:solidFill>
            <a:srgbClr val="72A9FF"/>
          </a:solidFill>
          <a:ln w="12700">
            <a:solidFill>
              <a:srgbClr val="72A9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3240512" y="3675888"/>
            <a:ext cx="38404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3F9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Σ</a:t>
            </a:r>
            <a:endParaRPr lang="en-US" sz="2800" dirty="0"/>
          </a:p>
        </p:txBody>
      </p:sp>
      <p:sp>
        <p:nvSpPr>
          <p:cNvPr id="105" name="Shape 103"/>
          <p:cNvSpPr/>
          <p:nvPr/>
        </p:nvSpPr>
        <p:spPr>
          <a:xfrm>
            <a:off x="2011680" y="3401568"/>
            <a:ext cx="612648" cy="0"/>
          </a:xfrm>
          <a:prstGeom prst="line">
            <a:avLst/>
          </a:prstGeom>
          <a:noFill/>
          <a:ln w="33020">
            <a:solidFill>
              <a:srgbClr val="0B3F9C"/>
            </a:solidFill>
            <a:prstDash val="solid"/>
            <a:headEnd type="none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4471416" y="3401568"/>
            <a:ext cx="612648" cy="0"/>
          </a:xfrm>
          <a:prstGeom prst="line">
            <a:avLst/>
          </a:prstGeom>
          <a:noFill/>
          <a:ln w="33020">
            <a:solidFill>
              <a:srgbClr val="0B3F9C"/>
            </a:solidFill>
            <a:prstDash val="solid"/>
            <a:headEnd type="none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6931152" y="3401568"/>
            <a:ext cx="420624" cy="0"/>
          </a:xfrm>
          <a:prstGeom prst="line">
            <a:avLst/>
          </a:prstGeom>
          <a:noFill/>
          <a:ln w="33020">
            <a:solidFill>
              <a:srgbClr val="D9251D"/>
            </a:solidFill>
            <a:prstDash val="solid"/>
            <a:headEnd type="none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9198864" y="3401568"/>
            <a:ext cx="1115568" cy="0"/>
          </a:xfrm>
          <a:prstGeom prst="line">
            <a:avLst/>
          </a:prstGeom>
          <a:noFill/>
          <a:ln w="33020">
            <a:solidFill>
              <a:srgbClr val="D9251D"/>
            </a:solidFill>
            <a:prstDash val="solid"/>
            <a:headEnd type="none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12161520" y="3401568"/>
            <a:ext cx="310896" cy="0"/>
          </a:xfrm>
          <a:prstGeom prst="line">
            <a:avLst/>
          </a:prstGeom>
          <a:noFill/>
          <a:ln w="33020">
            <a:solidFill>
              <a:srgbClr val="0A7A3B"/>
            </a:solidFill>
            <a:prstDash val="solid"/>
            <a:headEnd type="none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7507224" y="3447288"/>
            <a:ext cx="1572768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7780">
            <a:solidFill>
              <a:srgbClr val="AA111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680960" y="3557016"/>
            <a:ext cx="201168" cy="182880"/>
          </a:xfrm>
          <a:prstGeom prst="rect">
            <a:avLst/>
          </a:prstGeom>
          <a:solidFill>
            <a:srgbClr val="FFFFFF"/>
          </a:solidFill>
          <a:ln w="15240">
            <a:solidFill>
              <a:srgbClr val="AA111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744968" y="3557016"/>
            <a:ext cx="0" cy="182880"/>
          </a:xfrm>
          <a:prstGeom prst="line">
            <a:avLst/>
          </a:prstGeom>
          <a:noFill/>
          <a:ln w="8890">
            <a:solidFill>
              <a:srgbClr val="AA111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808976" y="3557016"/>
            <a:ext cx="0" cy="182880"/>
          </a:xfrm>
          <a:prstGeom prst="line">
            <a:avLst/>
          </a:prstGeom>
          <a:noFill/>
          <a:ln w="8890">
            <a:solidFill>
              <a:srgbClr val="AA111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680960" y="3621024"/>
            <a:ext cx="201168" cy="0"/>
          </a:xfrm>
          <a:prstGeom prst="line">
            <a:avLst/>
          </a:prstGeom>
          <a:noFill/>
          <a:ln w="8890">
            <a:solidFill>
              <a:srgbClr val="AA111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680960" y="3685032"/>
            <a:ext cx="201168" cy="0"/>
          </a:xfrm>
          <a:prstGeom prst="line">
            <a:avLst/>
          </a:prstGeom>
          <a:noFill/>
          <a:ln w="8890">
            <a:solidFill>
              <a:srgbClr val="AA111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936992" y="3502152"/>
            <a:ext cx="10515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A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元数据查表</a:t>
            </a:r>
            <a:endParaRPr lang="en-US" sz="1350" dirty="0"/>
          </a:p>
        </p:txBody>
      </p:sp>
      <p:sp>
        <p:nvSpPr>
          <p:cNvPr id="117" name="Shape 115"/>
          <p:cNvSpPr/>
          <p:nvPr/>
        </p:nvSpPr>
        <p:spPr>
          <a:xfrm>
            <a:off x="7507224" y="3968496"/>
            <a:ext cx="1572768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7780">
            <a:solidFill>
              <a:srgbClr val="AA111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680960" y="4050792"/>
            <a:ext cx="210312" cy="228600"/>
          </a:xfrm>
          <a:prstGeom prst="flowChartDocument">
            <a:avLst/>
          </a:prstGeom>
          <a:solidFill>
            <a:srgbClr val="FFFFFF"/>
          </a:solidFill>
          <a:ln w="15240">
            <a:solidFill>
              <a:srgbClr val="AA111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936992" y="4023360"/>
            <a:ext cx="10515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A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描述符生成</a:t>
            </a:r>
            <a:endParaRPr lang="en-US" sz="1350" dirty="0"/>
          </a:p>
        </p:txBody>
      </p:sp>
      <p:sp>
        <p:nvSpPr>
          <p:cNvPr id="120" name="Shape 118"/>
          <p:cNvSpPr/>
          <p:nvPr/>
        </p:nvSpPr>
        <p:spPr>
          <a:xfrm>
            <a:off x="7507224" y="4489704"/>
            <a:ext cx="1572768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7780">
            <a:solidFill>
              <a:srgbClr val="AA111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662672" y="4507992"/>
            <a:ext cx="29260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A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↻</a:t>
            </a:r>
            <a:endParaRPr lang="en-US" sz="2400" dirty="0"/>
          </a:p>
        </p:txBody>
      </p:sp>
      <p:sp>
        <p:nvSpPr>
          <p:cNvPr id="122" name="Text 120"/>
          <p:cNvSpPr/>
          <p:nvPr/>
        </p:nvSpPr>
        <p:spPr>
          <a:xfrm>
            <a:off x="7936992" y="4544568"/>
            <a:ext cx="10515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A111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Completion轮询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1207008" y="5577840"/>
            <a:ext cx="12207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22860">
            <a:solidFill>
              <a:srgbClr val="0B3F9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874520" y="5760720"/>
            <a:ext cx="566928" cy="566928"/>
          </a:xfrm>
          <a:prstGeom prst="ellipse">
            <a:avLst/>
          </a:prstGeom>
          <a:solidFill>
            <a:srgbClr val="2F7DE1"/>
          </a:solidFill>
          <a:ln w="12700">
            <a:solidFill>
              <a:srgbClr val="2F7DE1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874520" y="5769864"/>
            <a:ext cx="56692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↗</a:t>
            </a:r>
            <a:endParaRPr lang="en-US" sz="2700" dirty="0"/>
          </a:p>
        </p:txBody>
      </p:sp>
      <p:sp>
        <p:nvSpPr>
          <p:cNvPr id="126" name="Text 124"/>
          <p:cNvSpPr/>
          <p:nvPr/>
        </p:nvSpPr>
        <p:spPr>
          <a:xfrm>
            <a:off x="3246120" y="5797296"/>
            <a:ext cx="83210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小随机IO越多， NPU控制开销越高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NPU侧开销：控制面进入Decode热路径</dc:title>
  <dc:subject>PptxGenJS Presentation</dc:subject>
  <dc:creator>Codex</dc:creator>
  <cp:lastModifiedBy>Codex</cp:lastModifiedBy>
  <cp:revision>1</cp:revision>
  <dcterms:created xsi:type="dcterms:W3CDTF">2026-06-01T01:39:12Z</dcterms:created>
  <dcterms:modified xsi:type="dcterms:W3CDTF">2026-06-01T01:39:12Z</dcterms:modified>
</cp:coreProperties>
</file>